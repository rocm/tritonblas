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3" r:id="rId6"/>
    <p:sldId id="264" r:id="rId7"/>
    <p:sldId id="2147482705" r:id="rId8"/>
    <p:sldId id="2147482706" r:id="rId9"/>
    <p:sldId id="2147482709" r:id="rId10"/>
    <p:sldId id="2147482710" r:id="rId11"/>
    <p:sldId id="258" r:id="rId12"/>
    <p:sldId id="261" r:id="rId13"/>
    <p:sldId id="259" r:id="rId14"/>
    <p:sldId id="262" r:id="rId15"/>
    <p:sldId id="2147482707" r:id="rId16"/>
    <p:sldId id="2147482708" r:id="rId17"/>
    <p:sldId id="2147482711" r:id="rId18"/>
    <p:sldId id="2147482712" r:id="rId1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60046-1194-420F-AA18-F0EBCE7F0240}" v="193" dt="2026-03-12T17:57:34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8192x8192x8192 (FP16)</a:t>
            </a:r>
          </a:p>
          <a:p>
            <a:pPr>
              <a:defRPr/>
            </a:pPr>
            <a:r>
              <a:rPr lang="en-US"/>
              <a:t>MI300X -- tritonBLAS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snapshot!$B$1</c:f>
              <c:strCache>
                <c:ptCount val="1"/>
                <c:pt idx="0">
                  <c:v>torch.mm-cumask-baseline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snapshot!$B$2:$B$36</c:f>
              <c:numCache>
                <c:formatCode>General</c:formatCode>
                <c:ptCount val="35"/>
                <c:pt idx="0">
                  <c:v>93822.061824505101</c:v>
                </c:pt>
                <c:pt idx="1">
                  <c:v>94665.101874372398</c:v>
                </c:pt>
                <c:pt idx="2">
                  <c:v>129497.357962485</c:v>
                </c:pt>
                <c:pt idx="3">
                  <c:v>131574.54515952</c:v>
                </c:pt>
                <c:pt idx="4">
                  <c:v>131598.60312062001</c:v>
                </c:pt>
                <c:pt idx="5">
                  <c:v>131624.90588199499</c:v>
                </c:pt>
                <c:pt idx="6">
                  <c:v>242007.57388486699</c:v>
                </c:pt>
                <c:pt idx="7">
                  <c:v>253610.38402346501</c:v>
                </c:pt>
                <c:pt idx="8">
                  <c:v>253855.47332364699</c:v>
                </c:pt>
                <c:pt idx="9">
                  <c:v>253669.588027469</c:v>
                </c:pt>
                <c:pt idx="10">
                  <c:v>329027.70825433999</c:v>
                </c:pt>
                <c:pt idx="11">
                  <c:v>339118.58772783203</c:v>
                </c:pt>
                <c:pt idx="12">
                  <c:v>339959.84798096702</c:v>
                </c:pt>
                <c:pt idx="13">
                  <c:v>338626.10830611002</c:v>
                </c:pt>
                <c:pt idx="14">
                  <c:v>413217.489058971</c:v>
                </c:pt>
                <c:pt idx="15">
                  <c:v>413404.95500893</c:v>
                </c:pt>
                <c:pt idx="16">
                  <c:v>413245.582003813</c:v>
                </c:pt>
                <c:pt idx="17">
                  <c:v>412652.79043838999</c:v>
                </c:pt>
                <c:pt idx="18">
                  <c:v>444082.04768612102</c:v>
                </c:pt>
                <c:pt idx="19">
                  <c:v>467064.30316451099</c:v>
                </c:pt>
                <c:pt idx="20">
                  <c:v>465039.73677396303</c:v>
                </c:pt>
                <c:pt idx="21">
                  <c:v>465962.24434692698</c:v>
                </c:pt>
                <c:pt idx="22">
                  <c:v>487427.57816749701</c:v>
                </c:pt>
                <c:pt idx="23">
                  <c:v>516247.623504324</c:v>
                </c:pt>
                <c:pt idx="24">
                  <c:v>518703.15297748498</c:v>
                </c:pt>
                <c:pt idx="25">
                  <c:v>504397.39828364301</c:v>
                </c:pt>
                <c:pt idx="26">
                  <c:v>545521.15839716105</c:v>
                </c:pt>
                <c:pt idx="27">
                  <c:v>551507.14951503603</c:v>
                </c:pt>
                <c:pt idx="28">
                  <c:v>552661.12626840197</c:v>
                </c:pt>
                <c:pt idx="29">
                  <c:v>553742.706745637</c:v>
                </c:pt>
                <c:pt idx="30">
                  <c:v>614815.457439263</c:v>
                </c:pt>
                <c:pt idx="31">
                  <c:v>609254.31111648295</c:v>
                </c:pt>
                <c:pt idx="32">
                  <c:v>610585.65167262405</c:v>
                </c:pt>
                <c:pt idx="33">
                  <c:v>609592.26728832</c:v>
                </c:pt>
                <c:pt idx="34">
                  <c:v>613987.71195766097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942-4B64-A9EB-47E42D230080}"/>
            </c:ext>
          </c:extLst>
        </c:ser>
        <c:ser>
          <c:idx val="1"/>
          <c:order val="1"/>
          <c:tx>
            <c:strRef>
              <c:f>snapshot!$C$1</c:f>
              <c:strCache>
                <c:ptCount val="1"/>
                <c:pt idx="0">
                  <c:v>GEMM-ws-cumask-baseline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snapshot!$C$2:$C$36</c:f>
              <c:numCache>
                <c:formatCode>General</c:formatCode>
                <c:ptCount val="35"/>
                <c:pt idx="0">
                  <c:v>92723.671283282398</c:v>
                </c:pt>
                <c:pt idx="1">
                  <c:v>112334.93421612401</c:v>
                </c:pt>
                <c:pt idx="2">
                  <c:v>123972.196578339</c:v>
                </c:pt>
                <c:pt idx="3">
                  <c:v>124384.990818408</c:v>
                </c:pt>
                <c:pt idx="4">
                  <c:v>124582.027568171</c:v>
                </c:pt>
                <c:pt idx="5">
                  <c:v>123290.946250366</c:v>
                </c:pt>
                <c:pt idx="6">
                  <c:v>238042.76391974601</c:v>
                </c:pt>
                <c:pt idx="7">
                  <c:v>238003.17475673699</c:v>
                </c:pt>
                <c:pt idx="8">
                  <c:v>235591.55463552201</c:v>
                </c:pt>
                <c:pt idx="9">
                  <c:v>238069.08142504201</c:v>
                </c:pt>
                <c:pt idx="10">
                  <c:v>322382.49440365302</c:v>
                </c:pt>
                <c:pt idx="11">
                  <c:v>322879.71898703498</c:v>
                </c:pt>
                <c:pt idx="12">
                  <c:v>322155.96549158799</c:v>
                </c:pt>
                <c:pt idx="13">
                  <c:v>322154.55895593402</c:v>
                </c:pt>
                <c:pt idx="14">
                  <c:v>402842.36152655899</c:v>
                </c:pt>
                <c:pt idx="15">
                  <c:v>399769.13844595902</c:v>
                </c:pt>
                <c:pt idx="16">
                  <c:v>403613.94295059802</c:v>
                </c:pt>
                <c:pt idx="17">
                  <c:v>404526.40520518599</c:v>
                </c:pt>
                <c:pt idx="18">
                  <c:v>428567.278936102</c:v>
                </c:pt>
                <c:pt idx="19">
                  <c:v>429940.58261564001</c:v>
                </c:pt>
                <c:pt idx="20">
                  <c:v>430908.25654130802</c:v>
                </c:pt>
                <c:pt idx="21">
                  <c:v>430216.512247267</c:v>
                </c:pt>
                <c:pt idx="22">
                  <c:v>452699.39561786101</c:v>
                </c:pt>
                <c:pt idx="23">
                  <c:v>452924.49198009202</c:v>
                </c:pt>
                <c:pt idx="24">
                  <c:v>453805.10440070502</c:v>
                </c:pt>
                <c:pt idx="25">
                  <c:v>453722.95551094098</c:v>
                </c:pt>
                <c:pt idx="26">
                  <c:v>512042.06558151002</c:v>
                </c:pt>
                <c:pt idx="27">
                  <c:v>509153.77267223701</c:v>
                </c:pt>
                <c:pt idx="28">
                  <c:v>511225.89980439103</c:v>
                </c:pt>
                <c:pt idx="29">
                  <c:v>507006.93452268798</c:v>
                </c:pt>
                <c:pt idx="30">
                  <c:v>593737.447376622</c:v>
                </c:pt>
                <c:pt idx="31">
                  <c:v>595521.90978131595</c:v>
                </c:pt>
                <c:pt idx="32">
                  <c:v>594129.76949666603</c:v>
                </c:pt>
                <c:pt idx="33">
                  <c:v>594701.75488936796</c:v>
                </c:pt>
                <c:pt idx="34">
                  <c:v>562913.54991473095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942-4B64-A9EB-47E42D230080}"/>
            </c:ext>
          </c:extLst>
        </c:ser>
        <c:ser>
          <c:idx val="2"/>
          <c:order val="2"/>
          <c:tx>
            <c:strRef>
              <c:f>snapshot!$D$1</c:f>
              <c:strCache>
                <c:ptCount val="1"/>
                <c:pt idx="0">
                  <c:v>streamk-cumask-baseline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snapshot!$D$2:$D$36</c:f>
              <c:numCache>
                <c:formatCode>General</c:formatCode>
                <c:ptCount val="35"/>
                <c:pt idx="0">
                  <c:v>91596.614474220798</c:v>
                </c:pt>
                <c:pt idx="1">
                  <c:v>92103.952678075206</c:v>
                </c:pt>
                <c:pt idx="2">
                  <c:v>125690.943020312</c:v>
                </c:pt>
                <c:pt idx="3">
                  <c:v>126289.433717343</c:v>
                </c:pt>
                <c:pt idx="4">
                  <c:v>126261.460964653</c:v>
                </c:pt>
                <c:pt idx="5">
                  <c:v>126286.04320020899</c:v>
                </c:pt>
                <c:pt idx="6">
                  <c:v>243983.77827993201</c:v>
                </c:pt>
                <c:pt idx="7">
                  <c:v>240818.70528817599</c:v>
                </c:pt>
                <c:pt idx="8">
                  <c:v>240890.95358311999</c:v>
                </c:pt>
                <c:pt idx="9">
                  <c:v>241012.24471485001</c:v>
                </c:pt>
                <c:pt idx="10">
                  <c:v>305475.171658787</c:v>
                </c:pt>
                <c:pt idx="11">
                  <c:v>290315.78154608101</c:v>
                </c:pt>
                <c:pt idx="12">
                  <c:v>291873.850747335</c:v>
                </c:pt>
                <c:pt idx="13">
                  <c:v>291679.55802221602</c:v>
                </c:pt>
                <c:pt idx="14">
                  <c:v>413500.42427363002</c:v>
                </c:pt>
                <c:pt idx="15">
                  <c:v>411637.87117665599</c:v>
                </c:pt>
                <c:pt idx="16">
                  <c:v>408558.26337451802</c:v>
                </c:pt>
                <c:pt idx="17">
                  <c:v>408387.17047025199</c:v>
                </c:pt>
                <c:pt idx="18">
                  <c:v>393072.78934531898</c:v>
                </c:pt>
                <c:pt idx="19">
                  <c:v>374887.22506865597</c:v>
                </c:pt>
                <c:pt idx="20">
                  <c:v>372616.80861763301</c:v>
                </c:pt>
                <c:pt idx="21">
                  <c:v>378794.765272216</c:v>
                </c:pt>
                <c:pt idx="22">
                  <c:v>373584.32065387699</c:v>
                </c:pt>
                <c:pt idx="23">
                  <c:v>364976.74314854899</c:v>
                </c:pt>
                <c:pt idx="24">
                  <c:v>364291.96551064501</c:v>
                </c:pt>
                <c:pt idx="25">
                  <c:v>362153.87323904398</c:v>
                </c:pt>
                <c:pt idx="26">
                  <c:v>345761.66784389497</c:v>
                </c:pt>
                <c:pt idx="27">
                  <c:v>342309.09579606098</c:v>
                </c:pt>
                <c:pt idx="28">
                  <c:v>341026.31401516299</c:v>
                </c:pt>
                <c:pt idx="29">
                  <c:v>340854.39820336999</c:v>
                </c:pt>
                <c:pt idx="30">
                  <c:v>633308.81176399998</c:v>
                </c:pt>
                <c:pt idx="31">
                  <c:v>635513.32051194599</c:v>
                </c:pt>
                <c:pt idx="32">
                  <c:v>633080.25221489999</c:v>
                </c:pt>
                <c:pt idx="33">
                  <c:v>635974.10394565202</c:v>
                </c:pt>
                <c:pt idx="34">
                  <c:v>626660.717209758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942-4B64-A9EB-47E42D230080}"/>
            </c:ext>
          </c:extLst>
        </c:ser>
        <c:ser>
          <c:idx val="3"/>
          <c:order val="3"/>
          <c:tx>
            <c:strRef>
              <c:f>snapshot!$E$1</c:f>
              <c:strCache>
                <c:ptCount val="1"/>
                <c:pt idx="0">
                  <c:v>GEMM-ws-cumask</c:v>
                </c:pt>
              </c:strCache>
            </c:strRef>
          </c:tx>
          <c:spPr>
            <a:ln w="19050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snapshot!$E$2:$E$36</c:f>
              <c:numCache>
                <c:formatCode>General</c:formatCode>
                <c:ptCount val="35"/>
                <c:pt idx="0">
                  <c:v>93907.034184551798</c:v>
                </c:pt>
                <c:pt idx="1">
                  <c:v>103044.9501357</c:v>
                </c:pt>
                <c:pt idx="2">
                  <c:v>125700.215680696</c:v>
                </c:pt>
                <c:pt idx="3">
                  <c:v>135807.53563875699</c:v>
                </c:pt>
                <c:pt idx="4">
                  <c:v>138237.68949018299</c:v>
                </c:pt>
                <c:pt idx="5">
                  <c:v>142891.30467170899</c:v>
                </c:pt>
                <c:pt idx="6">
                  <c:v>239036.59673610199</c:v>
                </c:pt>
                <c:pt idx="7">
                  <c:v>249600.674699205</c:v>
                </c:pt>
                <c:pt idx="8">
                  <c:v>243593.772230495</c:v>
                </c:pt>
                <c:pt idx="9">
                  <c:v>251616.23551681099</c:v>
                </c:pt>
                <c:pt idx="10">
                  <c:v>321943.98641072301</c:v>
                </c:pt>
                <c:pt idx="11">
                  <c:v>327020.24719606002</c:v>
                </c:pt>
                <c:pt idx="12">
                  <c:v>331579.77321871999</c:v>
                </c:pt>
                <c:pt idx="13">
                  <c:v>326968.59052840702</c:v>
                </c:pt>
                <c:pt idx="14">
                  <c:v>394419.47177985299</c:v>
                </c:pt>
                <c:pt idx="15">
                  <c:v>394143.25183699402</c:v>
                </c:pt>
                <c:pt idx="16">
                  <c:v>394615.55918558902</c:v>
                </c:pt>
                <c:pt idx="17">
                  <c:v>394525.02812552103</c:v>
                </c:pt>
                <c:pt idx="18">
                  <c:v>427961.66892692901</c:v>
                </c:pt>
                <c:pt idx="19">
                  <c:v>435901.78502963798</c:v>
                </c:pt>
                <c:pt idx="20">
                  <c:v>427675.38021572499</c:v>
                </c:pt>
                <c:pt idx="21">
                  <c:v>330092.575456533</c:v>
                </c:pt>
                <c:pt idx="22">
                  <c:v>473169.88016657502</c:v>
                </c:pt>
                <c:pt idx="23">
                  <c:v>484066.96306765999</c:v>
                </c:pt>
                <c:pt idx="24">
                  <c:v>467577.32608718402</c:v>
                </c:pt>
                <c:pt idx="25">
                  <c:v>479755.093278624</c:v>
                </c:pt>
                <c:pt idx="26">
                  <c:v>527881.999547138</c:v>
                </c:pt>
                <c:pt idx="27">
                  <c:v>395198.882671275</c:v>
                </c:pt>
                <c:pt idx="28">
                  <c:v>520941.76526061603</c:v>
                </c:pt>
                <c:pt idx="29">
                  <c:v>520569.92204734799</c:v>
                </c:pt>
                <c:pt idx="30">
                  <c:v>590303.90309464699</c:v>
                </c:pt>
                <c:pt idx="31">
                  <c:v>589091.596292409</c:v>
                </c:pt>
                <c:pt idx="32">
                  <c:v>587149.11983615695</c:v>
                </c:pt>
                <c:pt idx="33">
                  <c:v>581360.22665639396</c:v>
                </c:pt>
                <c:pt idx="34">
                  <c:v>574852.44307237503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942-4B64-A9EB-47E42D230080}"/>
            </c:ext>
          </c:extLst>
        </c:ser>
        <c:ser>
          <c:idx val="4"/>
          <c:order val="4"/>
          <c:tx>
            <c:strRef>
              <c:f>snapshot!$F$1</c:f>
              <c:strCache>
                <c:ptCount val="1"/>
                <c:pt idx="0">
                  <c:v>GEMM-ws</c:v>
                </c:pt>
              </c:strCache>
            </c:strRef>
          </c:tx>
          <c:spPr>
            <a:ln w="1905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snapshot!$F$2:$F$36</c:f>
              <c:numCache>
                <c:formatCode>General</c:formatCode>
                <c:ptCount val="35"/>
                <c:pt idx="0">
                  <c:v>124882.751658059</c:v>
                </c:pt>
                <c:pt idx="1">
                  <c:v>152696.833733176</c:v>
                </c:pt>
                <c:pt idx="2">
                  <c:v>178177.66000896599</c:v>
                </c:pt>
                <c:pt idx="3">
                  <c:v>204143.87960244701</c:v>
                </c:pt>
                <c:pt idx="4">
                  <c:v>243093.34708286301</c:v>
                </c:pt>
                <c:pt idx="5">
                  <c:v>255218.081876632</c:v>
                </c:pt>
                <c:pt idx="6">
                  <c:v>286471.73743541999</c:v>
                </c:pt>
                <c:pt idx="7">
                  <c:v>303902.22589601402</c:v>
                </c:pt>
                <c:pt idx="8">
                  <c:v>324608.15143123502</c:v>
                </c:pt>
                <c:pt idx="9">
                  <c:v>342576.82946813398</c:v>
                </c:pt>
                <c:pt idx="10">
                  <c:v>343686.19177990599</c:v>
                </c:pt>
                <c:pt idx="11">
                  <c:v>372632.468745658</c:v>
                </c:pt>
                <c:pt idx="12">
                  <c:v>402704.00816437701</c:v>
                </c:pt>
                <c:pt idx="13">
                  <c:v>395569.81720384199</c:v>
                </c:pt>
                <c:pt idx="14">
                  <c:v>395303.32033461001</c:v>
                </c:pt>
                <c:pt idx="15">
                  <c:v>428768.38602824602</c:v>
                </c:pt>
                <c:pt idx="16">
                  <c:v>428895.99182979902</c:v>
                </c:pt>
                <c:pt idx="17">
                  <c:v>427195.74290906597</c:v>
                </c:pt>
                <c:pt idx="18">
                  <c:v>472035.60154205997</c:v>
                </c:pt>
                <c:pt idx="19">
                  <c:v>471967.80189474399</c:v>
                </c:pt>
                <c:pt idx="20">
                  <c:v>470051.54139159701</c:v>
                </c:pt>
                <c:pt idx="21">
                  <c:v>368617.737812181</c:v>
                </c:pt>
                <c:pt idx="22">
                  <c:v>528602.26969476906</c:v>
                </c:pt>
                <c:pt idx="23">
                  <c:v>528007.64741169196</c:v>
                </c:pt>
                <c:pt idx="24">
                  <c:v>526405.464065718</c:v>
                </c:pt>
                <c:pt idx="25">
                  <c:v>526278.76372195804</c:v>
                </c:pt>
                <c:pt idx="26">
                  <c:v>520800.542598564</c:v>
                </c:pt>
                <c:pt idx="27">
                  <c:v>414055.90974362398</c:v>
                </c:pt>
                <c:pt idx="28">
                  <c:v>588519.89385696105</c:v>
                </c:pt>
                <c:pt idx="29">
                  <c:v>585234.29702226096</c:v>
                </c:pt>
                <c:pt idx="30">
                  <c:v>583591.48227741499</c:v>
                </c:pt>
                <c:pt idx="31">
                  <c:v>583517.15080972796</c:v>
                </c:pt>
                <c:pt idx="32">
                  <c:v>582536.96675791498</c:v>
                </c:pt>
                <c:pt idx="33">
                  <c:v>576974.565102275</c:v>
                </c:pt>
                <c:pt idx="34">
                  <c:v>575528.42969989905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942-4B64-A9EB-47E42D230080}"/>
            </c:ext>
          </c:extLst>
        </c:ser>
        <c:ser>
          <c:idx val="5"/>
          <c:order val="5"/>
          <c:tx>
            <c:strRef>
              <c:f>snapshot!$G$1</c:f>
              <c:strCache>
                <c:ptCount val="1"/>
                <c:pt idx="0">
                  <c:v>streamk-ws*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snapshot!$G$2:$G$36</c:f>
              <c:numCache>
                <c:formatCode>General</c:formatCode>
                <c:ptCount val="35"/>
                <c:pt idx="0">
                  <c:v>125750.19497726399</c:v>
                </c:pt>
                <c:pt idx="1">
                  <c:v>154569.935153698</c:v>
                </c:pt>
                <c:pt idx="2">
                  <c:v>184849.47017225699</c:v>
                </c:pt>
                <c:pt idx="3">
                  <c:v>212469.18011228001</c:v>
                </c:pt>
                <c:pt idx="4">
                  <c:v>246119.47595056699</c:v>
                </c:pt>
                <c:pt idx="5">
                  <c:v>267695.016603984</c:v>
                </c:pt>
                <c:pt idx="6">
                  <c:v>290530.45363927301</c:v>
                </c:pt>
                <c:pt idx="7">
                  <c:v>308401.02482909401</c:v>
                </c:pt>
                <c:pt idx="8">
                  <c:v>328787.524340284</c:v>
                </c:pt>
                <c:pt idx="9">
                  <c:v>343390.12266515702</c:v>
                </c:pt>
                <c:pt idx="10">
                  <c:v>360863.87086768303</c:v>
                </c:pt>
                <c:pt idx="11">
                  <c:v>383190.64836655703</c:v>
                </c:pt>
                <c:pt idx="12">
                  <c:v>408029.152446152</c:v>
                </c:pt>
                <c:pt idx="13">
                  <c:v>414059.22323333297</c:v>
                </c:pt>
                <c:pt idx="14">
                  <c:v>423883.822757488</c:v>
                </c:pt>
                <c:pt idx="15">
                  <c:v>441091.97507148201</c:v>
                </c:pt>
                <c:pt idx="16">
                  <c:v>462852.46745066799</c:v>
                </c:pt>
                <c:pt idx="17">
                  <c:v>465737.91789899801</c:v>
                </c:pt>
                <c:pt idx="18">
                  <c:v>477209.93605811201</c:v>
                </c:pt>
                <c:pt idx="19">
                  <c:v>492810.99334805697</c:v>
                </c:pt>
                <c:pt idx="20">
                  <c:v>512366.30933216802</c:v>
                </c:pt>
                <c:pt idx="21">
                  <c:v>397543.62880658801</c:v>
                </c:pt>
                <c:pt idx="22">
                  <c:v>519787.14430740301</c:v>
                </c:pt>
                <c:pt idx="23">
                  <c:v>529336.40848841995</c:v>
                </c:pt>
                <c:pt idx="24">
                  <c:v>549721.08593405504</c:v>
                </c:pt>
                <c:pt idx="25">
                  <c:v>550207.75042754004</c:v>
                </c:pt>
                <c:pt idx="26">
                  <c:v>565084.49941541697</c:v>
                </c:pt>
                <c:pt idx="27">
                  <c:v>442092.733213367</c:v>
                </c:pt>
                <c:pt idx="28">
                  <c:v>608693.35047412605</c:v>
                </c:pt>
                <c:pt idx="29">
                  <c:v>534589.30834653298</c:v>
                </c:pt>
                <c:pt idx="30">
                  <c:v>564714.36976048199</c:v>
                </c:pt>
                <c:pt idx="31">
                  <c:v>577807.09121730295</c:v>
                </c:pt>
                <c:pt idx="32">
                  <c:v>587465.24040802999</c:v>
                </c:pt>
                <c:pt idx="33">
                  <c:v>600368.42406399897</c:v>
                </c:pt>
                <c:pt idx="34">
                  <c:v>603844.07810972398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942-4B64-A9EB-47E42D230080}"/>
            </c:ext>
          </c:extLst>
        </c:ser>
        <c:ser>
          <c:idx val="6"/>
          <c:order val="6"/>
          <c:tx>
            <c:strRef>
              <c:f>snapshot!$H$1</c:f>
              <c:strCache>
                <c:ptCount val="1"/>
                <c:pt idx="0">
                  <c:v>Ideal-GEMM-ws</c:v>
                </c:pt>
              </c:strCache>
            </c:strRef>
          </c:tx>
          <c:spPr>
            <a:ln w="19050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  <a:lumOff val="20000"/>
                </a:schemeClr>
              </a:solidFill>
              <a:ln w="9525">
                <a:solidFill>
                  <a:schemeClr val="accent6">
                    <a:lumMod val="80000"/>
                    <a:lumOff val="20000"/>
                  </a:schemeClr>
                </a:solidFill>
              </a:ln>
              <a:effectLst/>
            </c:spPr>
          </c:marker>
          <c:xVal>
            <c:numRef>
              <c:f>snapshot!$A$2:$A$36</c:f>
              <c:numCache>
                <c:formatCode>General</c:formatCode>
                <c:ptCount val="35"/>
                <c:pt idx="0">
                  <c:v>32</c:v>
                </c:pt>
                <c:pt idx="1">
                  <c:v>40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  <c:pt idx="5">
                  <c:v>72</c:v>
                </c:pt>
                <c:pt idx="6">
                  <c:v>80</c:v>
                </c:pt>
                <c:pt idx="7">
                  <c:v>88</c:v>
                </c:pt>
                <c:pt idx="8">
                  <c:v>96</c:v>
                </c:pt>
                <c:pt idx="9">
                  <c:v>104</c:v>
                </c:pt>
                <c:pt idx="10">
                  <c:v>112</c:v>
                </c:pt>
                <c:pt idx="11">
                  <c:v>120</c:v>
                </c:pt>
                <c:pt idx="12">
                  <c:v>128</c:v>
                </c:pt>
                <c:pt idx="13">
                  <c:v>136</c:v>
                </c:pt>
                <c:pt idx="14">
                  <c:v>144</c:v>
                </c:pt>
                <c:pt idx="15">
                  <c:v>152</c:v>
                </c:pt>
                <c:pt idx="16">
                  <c:v>160</c:v>
                </c:pt>
                <c:pt idx="17">
                  <c:v>168</c:v>
                </c:pt>
                <c:pt idx="18">
                  <c:v>176</c:v>
                </c:pt>
                <c:pt idx="19">
                  <c:v>184</c:v>
                </c:pt>
                <c:pt idx="20">
                  <c:v>192</c:v>
                </c:pt>
                <c:pt idx="21">
                  <c:v>200</c:v>
                </c:pt>
                <c:pt idx="22">
                  <c:v>208</c:v>
                </c:pt>
                <c:pt idx="23">
                  <c:v>216</c:v>
                </c:pt>
                <c:pt idx="24">
                  <c:v>224</c:v>
                </c:pt>
                <c:pt idx="25">
                  <c:v>232</c:v>
                </c:pt>
                <c:pt idx="26">
                  <c:v>240</c:v>
                </c:pt>
                <c:pt idx="27">
                  <c:v>248</c:v>
                </c:pt>
                <c:pt idx="28">
                  <c:v>256</c:v>
                </c:pt>
                <c:pt idx="29">
                  <c:v>264</c:v>
                </c:pt>
                <c:pt idx="30">
                  <c:v>272</c:v>
                </c:pt>
                <c:pt idx="31">
                  <c:v>280</c:v>
                </c:pt>
                <c:pt idx="32">
                  <c:v>288</c:v>
                </c:pt>
                <c:pt idx="33">
                  <c:v>296</c:v>
                </c:pt>
                <c:pt idx="34">
                  <c:v>304</c:v>
                </c:pt>
              </c:numCache>
            </c:numRef>
          </c:xVal>
          <c:yVal>
            <c:numRef>
              <c:f>snapshot!$H$2:$H$36</c:f>
              <c:numCache>
                <c:formatCode>General</c:formatCode>
                <c:ptCount val="35"/>
                <c:pt idx="0">
                  <c:v>124882.751658059</c:v>
                </c:pt>
                <c:pt idx="1">
                  <c:v>153701.84819453416</c:v>
                </c:pt>
                <c:pt idx="2">
                  <c:v>181647.63877535856</c:v>
                </c:pt>
                <c:pt idx="3">
                  <c:v>210328.84489778357</c:v>
                </c:pt>
                <c:pt idx="4">
                  <c:v>249765.503316118</c:v>
                </c:pt>
                <c:pt idx="5">
                  <c:v>266416.53687052586</c:v>
                </c:pt>
                <c:pt idx="6">
                  <c:v>307403.69638906833</c:v>
                </c:pt>
                <c:pt idx="7">
                  <c:v>333020.67108815734</c:v>
                </c:pt>
                <c:pt idx="8">
                  <c:v>363295.27755071712</c:v>
                </c:pt>
                <c:pt idx="9">
                  <c:v>399624.80530578882</c:v>
                </c:pt>
                <c:pt idx="10">
                  <c:v>399624.80530578882</c:v>
                </c:pt>
                <c:pt idx="11">
                  <c:v>444027.56145087641</c:v>
                </c:pt>
                <c:pt idx="12">
                  <c:v>499531.00663223601</c:v>
                </c:pt>
                <c:pt idx="13">
                  <c:v>499531.00663223601</c:v>
                </c:pt>
                <c:pt idx="14">
                  <c:v>499531.00663223601</c:v>
                </c:pt>
                <c:pt idx="15">
                  <c:v>570892.57900826971</c:v>
                </c:pt>
                <c:pt idx="16">
                  <c:v>570892.57900826971</c:v>
                </c:pt>
                <c:pt idx="17">
                  <c:v>570892.57900826971</c:v>
                </c:pt>
                <c:pt idx="18">
                  <c:v>666041.34217631468</c:v>
                </c:pt>
                <c:pt idx="19">
                  <c:v>666041.34217631468</c:v>
                </c:pt>
                <c:pt idx="20">
                  <c:v>666041.34217631468</c:v>
                </c:pt>
                <c:pt idx="21">
                  <c:v>666041.34217631468</c:v>
                </c:pt>
                <c:pt idx="22">
                  <c:v>799249.61061157763</c:v>
                </c:pt>
                <c:pt idx="23">
                  <c:v>799249.61061157763</c:v>
                </c:pt>
                <c:pt idx="24">
                  <c:v>799249.61061157763</c:v>
                </c:pt>
                <c:pt idx="25">
                  <c:v>799249.61061157763</c:v>
                </c:pt>
                <c:pt idx="26">
                  <c:v>799249.61061157763</c:v>
                </c:pt>
                <c:pt idx="27">
                  <c:v>799249.61061157763</c:v>
                </c:pt>
                <c:pt idx="28">
                  <c:v>999062.01326447201</c:v>
                </c:pt>
                <c:pt idx="29">
                  <c:v>999062.01326447201</c:v>
                </c:pt>
                <c:pt idx="30">
                  <c:v>999062.01326447201</c:v>
                </c:pt>
                <c:pt idx="31">
                  <c:v>999062.01326447201</c:v>
                </c:pt>
                <c:pt idx="32">
                  <c:v>999062.01326447201</c:v>
                </c:pt>
                <c:pt idx="33">
                  <c:v>999062.01326447201</c:v>
                </c:pt>
                <c:pt idx="34">
                  <c:v>999062.01326447201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1942-4B64-A9EB-47E42D230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3375760"/>
        <c:axId val="1113381040"/>
      </c:scatterChart>
      <c:valAx>
        <c:axId val="1113375760"/>
        <c:scaling>
          <c:orientation val="minMax"/>
          <c:max val="312"/>
          <c:min val="2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Available CUs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381040"/>
        <c:crosses val="autoZero"/>
        <c:crossBetween val="midCat"/>
        <c:majorUnit val="8"/>
        <c:minorUnit val="8"/>
      </c:valAx>
      <c:valAx>
        <c:axId val="111338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GFLOPs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3757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701288376297361E-2"/>
          <c:y val="0.14600613746494967"/>
          <c:w val="0.18963554088933907"/>
          <c:h val="0.29244709626124216"/>
        </c:manualLayout>
      </c:layout>
      <c:overlay val="0"/>
      <c:spPr>
        <a:solidFill>
          <a:schemeClr val="bg1"/>
        </a:solidFill>
        <a:ln>
          <a:solidFill>
            <a:schemeClr val="bg1">
              <a:lumMod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7T19:18:40.9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43,'0'-4,"0"-5,0-6,0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7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64149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1659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8922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102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94443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3817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14076692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8708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8719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8162182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100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6103262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67753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2997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4907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4233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1560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952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0805476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5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9413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6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5071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070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81960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49677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614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F8DA-431D-E04E-A7B7-238640AC3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9BC53-087F-CD01-7D6A-1E8B57931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66CF-8DF9-E533-9BCA-58DEBCA9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B85B5-0BDB-4767-8606-1DEA847306E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B44A-1D8E-0E29-5A8F-FC3684F5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AB85-556A-5E32-B851-A37AE94A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0CDDB-D197-40F4-B713-751A1F36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5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CE559-B163-D958-ACE4-3FE9573A711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65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2609098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kapilsharma.dev/posts/learn-cutlass-the-hard-way-2/#stream-k-scheduling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Cm/tritonBLAS/pull/64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82B6A9-AF5C-055F-3EBA-5CE22631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Work Assignment for </a:t>
            </a:r>
            <a:br>
              <a:rPr lang="en-US"/>
            </a:br>
            <a:r>
              <a:rPr lang="en-US"/>
              <a:t>GEMMs on AMD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33EDF-E095-B1C5-AB0A-FA37F81057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50260" y="3635434"/>
            <a:ext cx="6244332" cy="1415772"/>
          </a:xfrm>
        </p:spPr>
        <p:txBody>
          <a:bodyPr/>
          <a:lstStyle/>
          <a:p>
            <a:r>
              <a:rPr lang="en-US"/>
              <a:t>Muhammad Osama, Alex Dutu &amp; Ryan Swann, RAD</a:t>
            </a:r>
          </a:p>
          <a:p>
            <a:endParaRPr lang="en-US" b="0"/>
          </a:p>
          <a:p>
            <a:r>
              <a:rPr lang="en-US" sz="1400" b="0"/>
              <a:t>Building on </a:t>
            </a:r>
            <a:r>
              <a:rPr lang="en-US" sz="1400" b="0" err="1"/>
              <a:t>Concurologist</a:t>
            </a:r>
            <a:r>
              <a:rPr lang="en-US" sz="1400" b="0"/>
              <a:t>-NV Learnings and </a:t>
            </a:r>
            <a:br>
              <a:rPr lang="en-US" sz="1400" b="0"/>
            </a:br>
            <a:r>
              <a:rPr lang="en-US" sz="1400" b="0"/>
              <a:t>Recommendations by </a:t>
            </a:r>
            <a:r>
              <a:rPr lang="en-US" sz="1400" b="0" err="1"/>
              <a:t>Shaizeen</a:t>
            </a:r>
            <a:r>
              <a:rPr lang="en-US" sz="1400" b="0"/>
              <a:t> and Mohamed</a:t>
            </a:r>
            <a:br>
              <a:rPr lang="en-US" sz="1400" b="0"/>
            </a:br>
            <a:r>
              <a:rPr lang="en-US" sz="1400" b="0"/>
              <a:t>&amp; Freemont / Tesla Investigations from 2025 by</a:t>
            </a:r>
          </a:p>
          <a:p>
            <a:r>
              <a:rPr lang="en-US" sz="1400" b="0" err="1"/>
              <a:t>Guennadi</a:t>
            </a:r>
            <a:r>
              <a:rPr lang="en-US" sz="1400" b="0"/>
              <a:t>, </a:t>
            </a:r>
            <a:r>
              <a:rPr lang="en-US" sz="1400" b="0" err="1"/>
              <a:t>Epherem</a:t>
            </a:r>
            <a:r>
              <a:rPr lang="en-US" sz="1400" b="0"/>
              <a:t>, </a:t>
            </a:r>
            <a:r>
              <a:rPr lang="en-US" sz="1400" b="0" err="1"/>
              <a:t>Guihong</a:t>
            </a:r>
            <a:r>
              <a:rPr lang="en-US" sz="1400" b="0"/>
              <a:t>, Vikram and others!</a:t>
            </a:r>
          </a:p>
        </p:txBody>
      </p:sp>
    </p:spTree>
    <p:extLst>
      <p:ext uri="{BB962C8B-B14F-4D97-AF65-F5344CB8AC3E}">
        <p14:creationId xmlns:p14="http://schemas.microsoft.com/office/powerpoint/2010/main" val="244226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2B91-DCF6-9CFD-DBFF-2291355B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E2438-AEF3-5E3B-E823-B4C5173C60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3963016" cy="4831840"/>
          </a:xfrm>
        </p:spPr>
        <p:txBody>
          <a:bodyPr/>
          <a:lstStyle/>
          <a:p>
            <a:r>
              <a:rPr lang="en-US" b="1"/>
              <a:t>Understanding the performance loss of GEMMs when executing alongside communication kernels versus GEMMs run in isolation.</a:t>
            </a:r>
          </a:p>
          <a:p>
            <a:endParaRPr lang="en-US"/>
          </a:p>
          <a:p>
            <a:r>
              <a:rPr lang="en-US"/>
              <a:t>e.g. if a </a:t>
            </a:r>
            <a:r>
              <a:rPr lang="en-US" err="1">
                <a:latin typeface="Consolas" panose="020B0609020204030204" pitchFamily="49" charset="0"/>
              </a:rPr>
              <a:t>torch.distributed.all_reduce</a:t>
            </a:r>
            <a:r>
              <a:rPr lang="en-US"/>
              <a:t> uses 32 workgroups launched on 32 CUs on an MI300X GPU with 304 CUs, GEMM running concurrently only experiences a performance loss of ~11% (272 available CUs instead of 304).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83587E-8598-EE65-2FAE-E6F50DEA54A3}"/>
              </a:ext>
            </a:extLst>
          </p:cNvPr>
          <p:cNvGrpSpPr/>
          <p:nvPr/>
        </p:nvGrpSpPr>
        <p:grpSpPr>
          <a:xfrm>
            <a:off x="8967060" y="390129"/>
            <a:ext cx="1108192" cy="1730212"/>
            <a:chOff x="784560" y="1150048"/>
            <a:chExt cx="3536103" cy="55209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571ECA2-B923-5ADD-FC27-705E6AE1753E}"/>
                </a:ext>
              </a:extLst>
            </p:cNvPr>
            <p:cNvGrpSpPr/>
            <p:nvPr/>
          </p:nvGrpSpPr>
          <p:grpSpPr>
            <a:xfrm>
              <a:off x="784560" y="1150048"/>
              <a:ext cx="3536103" cy="5520907"/>
              <a:chOff x="1200994" y="1124647"/>
              <a:chExt cx="4380653" cy="683950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968C57E-ABB9-41CB-170E-02EFA1457D6F}"/>
                  </a:ext>
                </a:extLst>
              </p:cNvPr>
              <p:cNvGrpSpPr/>
              <p:nvPr/>
            </p:nvGrpSpPr>
            <p:grpSpPr>
              <a:xfrm>
                <a:off x="1200994" y="1124647"/>
                <a:ext cx="4380652" cy="3314825"/>
                <a:chOff x="210402" y="1115122"/>
                <a:chExt cx="7144802" cy="5406454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71C73B0-72DE-0793-A169-319E47453CF0}"/>
                    </a:ext>
                  </a:extLst>
                </p:cNvPr>
                <p:cNvSpPr/>
                <p:nvPr/>
              </p:nvSpPr>
              <p:spPr>
                <a:xfrm>
                  <a:off x="1069848" y="1115124"/>
                  <a:ext cx="2654343" cy="5406452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endParaRPr lang="en-US" sz="1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D03F7EC5-B9FE-68F4-8EB5-68CE512B8EC2}"/>
                    </a:ext>
                  </a:extLst>
                </p:cNvPr>
                <p:cNvSpPr/>
                <p:nvPr/>
              </p:nvSpPr>
              <p:spPr>
                <a:xfrm>
                  <a:off x="1703091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9AC5C2-D7CB-16B7-48C6-141DA64D691C}"/>
                    </a:ext>
                  </a:extLst>
                </p:cNvPr>
                <p:cNvSpPr/>
                <p:nvPr/>
              </p:nvSpPr>
              <p:spPr>
                <a:xfrm>
                  <a:off x="1703091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40" name="Connector: Elbow 39">
                  <a:extLst>
                    <a:ext uri="{FF2B5EF4-FFF2-40B4-BE49-F238E27FC236}">
                      <a16:creationId xmlns:a16="http://schemas.microsoft.com/office/drawing/2014/main" id="{D596444E-2825-6D92-3C52-DA751812D1F7}"/>
                    </a:ext>
                  </a:extLst>
                </p:cNvPr>
                <p:cNvCxnSpPr>
                  <a:cxnSpLocks/>
                  <a:stCxn id="54" idx="1"/>
                  <a:endCxn id="60" idx="0"/>
                </p:cNvCxnSpPr>
                <p:nvPr/>
              </p:nvCxnSpPr>
              <p:spPr>
                <a:xfrm rot="10800000">
                  <a:off x="1362657" y="1581912"/>
                  <a:ext cx="340434" cy="1922159"/>
                </a:xfrm>
                <a:prstGeom prst="bentConnector4">
                  <a:avLst>
                    <a:gd name="adj1" fmla="val 25728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nector: Elbow 40">
                  <a:extLst>
                    <a:ext uri="{FF2B5EF4-FFF2-40B4-BE49-F238E27FC236}">
                      <a16:creationId xmlns:a16="http://schemas.microsoft.com/office/drawing/2014/main" id="{6D065077-8DF7-C6B6-72FC-DEFC8B07BD77}"/>
                    </a:ext>
                  </a:extLst>
                </p:cNvPr>
                <p:cNvCxnSpPr>
                  <a:cxnSpLocks/>
                  <a:stCxn id="55" idx="1"/>
                  <a:endCxn id="60" idx="2"/>
                </p:cNvCxnSpPr>
                <p:nvPr/>
              </p:nvCxnSpPr>
              <p:spPr>
                <a:xfrm rot="10800000" flipV="1">
                  <a:off x="1362657" y="4075244"/>
                  <a:ext cx="340434" cy="1932364"/>
                </a:xfrm>
                <a:prstGeom prst="bentConnector4">
                  <a:avLst>
                    <a:gd name="adj1" fmla="val 25728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nector: Elbow 41">
                  <a:extLst>
                    <a:ext uri="{FF2B5EF4-FFF2-40B4-BE49-F238E27FC236}">
                      <a16:creationId xmlns:a16="http://schemas.microsoft.com/office/drawing/2014/main" id="{602A9600-D1FB-DCF2-1010-637BE66628F6}"/>
                    </a:ext>
                  </a:extLst>
                </p:cNvPr>
                <p:cNvCxnSpPr>
                  <a:cxnSpLocks/>
                  <a:endCxn id="44" idx="2"/>
                </p:cNvCxnSpPr>
                <p:nvPr/>
              </p:nvCxnSpPr>
              <p:spPr>
                <a:xfrm rot="10800000">
                  <a:off x="611150" y="3101511"/>
                  <a:ext cx="586246" cy="327488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nector: Elbow 42">
                  <a:extLst>
                    <a:ext uri="{FF2B5EF4-FFF2-40B4-BE49-F238E27FC236}">
                      <a16:creationId xmlns:a16="http://schemas.microsoft.com/office/drawing/2014/main" id="{89A7DB47-9FEF-D7F5-CFF9-A523C64E651D}"/>
                    </a:ext>
                  </a:extLst>
                </p:cNvPr>
                <p:cNvCxnSpPr>
                  <a:cxnSpLocks/>
                  <a:endCxn id="45" idx="0"/>
                </p:cNvCxnSpPr>
                <p:nvPr/>
              </p:nvCxnSpPr>
              <p:spPr>
                <a:xfrm rot="10800000" flipV="1">
                  <a:off x="611150" y="4140355"/>
                  <a:ext cx="583661" cy="332409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EC81E8F-0A3E-EA07-A0CF-9C0B74D44C96}"/>
                    </a:ext>
                  </a:extLst>
                </p:cNvPr>
                <p:cNvSpPr/>
                <p:nvPr/>
              </p:nvSpPr>
              <p:spPr>
                <a:xfrm>
                  <a:off x="210403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EDDF0C2-7FC9-58B8-4A42-32B26BB656D5}"/>
                    </a:ext>
                  </a:extLst>
                </p:cNvPr>
                <p:cNvSpPr/>
                <p:nvPr/>
              </p:nvSpPr>
              <p:spPr>
                <a:xfrm>
                  <a:off x="210402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26A4546-8CD5-4292-2E28-4224326B5A53}"/>
                    </a:ext>
                  </a:extLst>
                </p:cNvPr>
                <p:cNvSpPr/>
                <p:nvPr/>
              </p:nvSpPr>
              <p:spPr>
                <a:xfrm>
                  <a:off x="3831725" y="1115122"/>
                  <a:ext cx="2654343" cy="5406450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endParaRPr lang="en-US" sz="1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35E3BB9-E8EC-B68C-E3D6-181C9FCE3C18}"/>
                    </a:ext>
                  </a:extLst>
                </p:cNvPr>
                <p:cNvSpPr/>
                <p:nvPr/>
              </p:nvSpPr>
              <p:spPr>
                <a:xfrm>
                  <a:off x="3953669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55A42BE-10BC-757E-D723-8F7C2C51278C}"/>
                    </a:ext>
                  </a:extLst>
                </p:cNvPr>
                <p:cNvSpPr/>
                <p:nvPr/>
              </p:nvSpPr>
              <p:spPr>
                <a:xfrm>
                  <a:off x="3953669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49" name="Connector: Elbow 48">
                  <a:extLst>
                    <a:ext uri="{FF2B5EF4-FFF2-40B4-BE49-F238E27FC236}">
                      <a16:creationId xmlns:a16="http://schemas.microsoft.com/office/drawing/2014/main" id="{0C559F45-0238-222D-0FA8-353567F02E2D}"/>
                    </a:ext>
                  </a:extLst>
                </p:cNvPr>
                <p:cNvCxnSpPr>
                  <a:cxnSpLocks/>
                  <a:stCxn id="56" idx="3"/>
                  <a:endCxn id="59" idx="0"/>
                </p:cNvCxnSpPr>
                <p:nvPr/>
              </p:nvCxnSpPr>
              <p:spPr>
                <a:xfrm flipV="1">
                  <a:off x="5836896" y="1581911"/>
                  <a:ext cx="387587" cy="1922159"/>
                </a:xfrm>
                <a:prstGeom prst="bentConnector4">
                  <a:avLst>
                    <a:gd name="adj1" fmla="val 28681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ctor: Elbow 49">
                  <a:extLst>
                    <a:ext uri="{FF2B5EF4-FFF2-40B4-BE49-F238E27FC236}">
                      <a16:creationId xmlns:a16="http://schemas.microsoft.com/office/drawing/2014/main" id="{EB523E02-B63D-84A3-0EEF-AD00C71BE160}"/>
                    </a:ext>
                  </a:extLst>
                </p:cNvPr>
                <p:cNvCxnSpPr>
                  <a:cxnSpLocks/>
                  <a:stCxn id="57" idx="3"/>
                  <a:endCxn id="59" idx="2"/>
                </p:cNvCxnSpPr>
                <p:nvPr/>
              </p:nvCxnSpPr>
              <p:spPr>
                <a:xfrm>
                  <a:off x="5836896" y="4075244"/>
                  <a:ext cx="387587" cy="1932364"/>
                </a:xfrm>
                <a:prstGeom prst="bentConnector4">
                  <a:avLst>
                    <a:gd name="adj1" fmla="val 28681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or: Elbow 50">
                  <a:extLst>
                    <a:ext uri="{FF2B5EF4-FFF2-40B4-BE49-F238E27FC236}">
                      <a16:creationId xmlns:a16="http://schemas.microsoft.com/office/drawing/2014/main" id="{47E7A228-23C3-3A4B-4CAC-8C11176E038C}"/>
                    </a:ext>
                  </a:extLst>
                </p:cNvPr>
                <p:cNvCxnSpPr>
                  <a:cxnSpLocks/>
                  <a:endCxn id="53" idx="0"/>
                </p:cNvCxnSpPr>
                <p:nvPr/>
              </p:nvCxnSpPr>
              <p:spPr>
                <a:xfrm>
                  <a:off x="6389741" y="4140355"/>
                  <a:ext cx="564715" cy="332410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B7DFB25-50F4-A928-3F3E-69DFE8EC0299}"/>
                    </a:ext>
                  </a:extLst>
                </p:cNvPr>
                <p:cNvSpPr/>
                <p:nvPr/>
              </p:nvSpPr>
              <p:spPr>
                <a:xfrm>
                  <a:off x="6553710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1BB410F-ADE8-2677-0BA7-28BA5641DD73}"/>
                    </a:ext>
                  </a:extLst>
                </p:cNvPr>
                <p:cNvSpPr/>
                <p:nvPr/>
              </p:nvSpPr>
              <p:spPr>
                <a:xfrm>
                  <a:off x="6553709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943A8F9-C0BE-2E54-83CC-F7B5B128DE5D}"/>
                    </a:ext>
                  </a:extLst>
                </p:cNvPr>
                <p:cNvSpPr/>
                <p:nvPr/>
              </p:nvSpPr>
              <p:spPr>
                <a:xfrm>
                  <a:off x="1703091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4CDD36F-2B2D-85DD-65D6-DBAD71326125}"/>
                    </a:ext>
                  </a:extLst>
                </p:cNvPr>
                <p:cNvSpPr/>
                <p:nvPr/>
              </p:nvSpPr>
              <p:spPr>
                <a:xfrm>
                  <a:off x="1703091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DD736EB-D61C-8213-CD6B-3763C2B932A3}"/>
                    </a:ext>
                  </a:extLst>
                </p:cNvPr>
                <p:cNvSpPr/>
                <p:nvPr/>
              </p:nvSpPr>
              <p:spPr>
                <a:xfrm>
                  <a:off x="3953669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5827EE48-673C-997D-9733-8280601909D8}"/>
                    </a:ext>
                  </a:extLst>
                </p:cNvPr>
                <p:cNvSpPr/>
                <p:nvPr/>
              </p:nvSpPr>
              <p:spPr>
                <a:xfrm>
                  <a:off x="3953669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cxnSp>
              <p:nvCxnSpPr>
                <p:cNvPr id="58" name="Connector: Elbow 57">
                  <a:extLst>
                    <a:ext uri="{FF2B5EF4-FFF2-40B4-BE49-F238E27FC236}">
                      <a16:creationId xmlns:a16="http://schemas.microsoft.com/office/drawing/2014/main" id="{C05BA7C4-D6FD-689C-E293-31AA63367E94}"/>
                    </a:ext>
                  </a:extLst>
                </p:cNvPr>
                <p:cNvCxnSpPr>
                  <a:cxnSpLocks/>
                  <a:endCxn id="52" idx="2"/>
                </p:cNvCxnSpPr>
                <p:nvPr/>
              </p:nvCxnSpPr>
              <p:spPr>
                <a:xfrm flipV="1">
                  <a:off x="6389741" y="3101512"/>
                  <a:ext cx="564717" cy="327486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BEB5DFFF-2327-A688-3368-819B4F8E2572}"/>
                    </a:ext>
                  </a:extLst>
                </p:cNvPr>
                <p:cNvSpPr/>
                <p:nvPr/>
              </p:nvSpPr>
              <p:spPr>
                <a:xfrm>
                  <a:off x="6059222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CF12E93-B248-1750-3499-66C355186BF5}"/>
                    </a:ext>
                  </a:extLst>
                </p:cNvPr>
                <p:cNvSpPr/>
                <p:nvPr/>
              </p:nvSpPr>
              <p:spPr>
                <a:xfrm>
                  <a:off x="1197396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142B0CB-1188-0AA0-9092-5701609D2846}"/>
                  </a:ext>
                </a:extLst>
              </p:cNvPr>
              <p:cNvGrpSpPr/>
              <p:nvPr/>
            </p:nvGrpSpPr>
            <p:grpSpPr>
              <a:xfrm>
                <a:off x="1200994" y="4490915"/>
                <a:ext cx="4380653" cy="3473235"/>
                <a:chOff x="210402" y="1115122"/>
                <a:chExt cx="7144802" cy="5664819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703353D-13E7-2D96-1BE0-D10C51C06E5B}"/>
                    </a:ext>
                  </a:extLst>
                </p:cNvPr>
                <p:cNvSpPr/>
                <p:nvPr/>
              </p:nvSpPr>
              <p:spPr>
                <a:xfrm>
                  <a:off x="1069848" y="1115122"/>
                  <a:ext cx="2654344" cy="5664819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00" b="1">
                      <a:solidFill>
                        <a:schemeClr val="bg1"/>
                      </a:solidFill>
                    </a:rPr>
                    <a:t>AID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2AD18D6A-9E57-54D0-E903-E782D14EF479}"/>
                    </a:ext>
                  </a:extLst>
                </p:cNvPr>
                <p:cNvSpPr/>
                <p:nvPr/>
              </p:nvSpPr>
              <p:spPr>
                <a:xfrm>
                  <a:off x="1703091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B6FE3E9-553D-5816-2274-084145327E5A}"/>
                    </a:ext>
                  </a:extLst>
                </p:cNvPr>
                <p:cNvSpPr/>
                <p:nvPr/>
              </p:nvSpPr>
              <p:spPr>
                <a:xfrm>
                  <a:off x="1703091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16" name="Connector: Elbow 15">
                  <a:extLst>
                    <a:ext uri="{FF2B5EF4-FFF2-40B4-BE49-F238E27FC236}">
                      <a16:creationId xmlns:a16="http://schemas.microsoft.com/office/drawing/2014/main" id="{A54327E0-A81D-C4B5-A0AB-222E5D8F1A93}"/>
                    </a:ext>
                  </a:extLst>
                </p:cNvPr>
                <p:cNvCxnSpPr>
                  <a:cxnSpLocks/>
                  <a:stCxn id="23" idx="1"/>
                  <a:endCxn id="20" idx="0"/>
                </p:cNvCxnSpPr>
                <p:nvPr/>
              </p:nvCxnSpPr>
              <p:spPr>
                <a:xfrm rot="10800000">
                  <a:off x="1362657" y="1581912"/>
                  <a:ext cx="340434" cy="1922159"/>
                </a:xfrm>
                <a:prstGeom prst="bentConnector4">
                  <a:avLst>
                    <a:gd name="adj1" fmla="val 25728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Connector: Elbow 16">
                  <a:extLst>
                    <a:ext uri="{FF2B5EF4-FFF2-40B4-BE49-F238E27FC236}">
                      <a16:creationId xmlns:a16="http://schemas.microsoft.com/office/drawing/2014/main" id="{C856512C-CAF3-D2B5-9427-4B42858C2DFA}"/>
                    </a:ext>
                  </a:extLst>
                </p:cNvPr>
                <p:cNvCxnSpPr>
                  <a:cxnSpLocks/>
                  <a:stCxn id="24" idx="1"/>
                  <a:endCxn id="20" idx="2"/>
                </p:cNvCxnSpPr>
                <p:nvPr/>
              </p:nvCxnSpPr>
              <p:spPr>
                <a:xfrm rot="10800000" flipV="1">
                  <a:off x="1362657" y="4075244"/>
                  <a:ext cx="340434" cy="1932364"/>
                </a:xfrm>
                <a:prstGeom prst="bentConnector4">
                  <a:avLst>
                    <a:gd name="adj1" fmla="val 25728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nector: Elbow 17">
                  <a:extLst>
                    <a:ext uri="{FF2B5EF4-FFF2-40B4-BE49-F238E27FC236}">
                      <a16:creationId xmlns:a16="http://schemas.microsoft.com/office/drawing/2014/main" id="{43A3745E-5E6F-3331-64DF-3891206A24EC}"/>
                    </a:ext>
                  </a:extLst>
                </p:cNvPr>
                <p:cNvCxnSpPr>
                  <a:cxnSpLocks/>
                  <a:endCxn id="21" idx="2"/>
                </p:cNvCxnSpPr>
                <p:nvPr/>
              </p:nvCxnSpPr>
              <p:spPr>
                <a:xfrm rot="10800000">
                  <a:off x="611150" y="3101511"/>
                  <a:ext cx="586246" cy="327488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Connector: Elbow 18">
                  <a:extLst>
                    <a:ext uri="{FF2B5EF4-FFF2-40B4-BE49-F238E27FC236}">
                      <a16:creationId xmlns:a16="http://schemas.microsoft.com/office/drawing/2014/main" id="{EC6F60E4-EA83-EEA0-7DF0-B2DE9CD7F3C6}"/>
                    </a:ext>
                  </a:extLst>
                </p:cNvPr>
                <p:cNvCxnSpPr>
                  <a:cxnSpLocks/>
                  <a:endCxn id="22" idx="0"/>
                </p:cNvCxnSpPr>
                <p:nvPr/>
              </p:nvCxnSpPr>
              <p:spPr>
                <a:xfrm rot="10800000" flipV="1">
                  <a:off x="611150" y="4140355"/>
                  <a:ext cx="583661" cy="332409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0DE0DAE-E40B-B097-C68C-E5832ECF7A46}"/>
                    </a:ext>
                  </a:extLst>
                </p:cNvPr>
                <p:cNvSpPr/>
                <p:nvPr/>
              </p:nvSpPr>
              <p:spPr>
                <a:xfrm>
                  <a:off x="1197396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66AFA9C-4574-A8C4-3146-00285BE94B47}"/>
                    </a:ext>
                  </a:extLst>
                </p:cNvPr>
                <p:cNvSpPr/>
                <p:nvPr/>
              </p:nvSpPr>
              <p:spPr>
                <a:xfrm>
                  <a:off x="210403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158E09-4003-E144-DEA5-0B705C09C8A4}"/>
                    </a:ext>
                  </a:extLst>
                </p:cNvPr>
                <p:cNvSpPr/>
                <p:nvPr/>
              </p:nvSpPr>
              <p:spPr>
                <a:xfrm>
                  <a:off x="210402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3165BFD-3BD7-D56C-40E6-A7D162FCE657}"/>
                    </a:ext>
                  </a:extLst>
                </p:cNvPr>
                <p:cNvSpPr/>
                <p:nvPr/>
              </p:nvSpPr>
              <p:spPr>
                <a:xfrm>
                  <a:off x="1703091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C2B83D2-6CE2-CFC5-E972-6339C02EF51A}"/>
                    </a:ext>
                  </a:extLst>
                </p:cNvPr>
                <p:cNvSpPr/>
                <p:nvPr/>
              </p:nvSpPr>
              <p:spPr>
                <a:xfrm>
                  <a:off x="1703091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D4972EB-FB30-4C37-A4A0-4600D861A640}"/>
                    </a:ext>
                  </a:extLst>
                </p:cNvPr>
                <p:cNvSpPr/>
                <p:nvPr/>
              </p:nvSpPr>
              <p:spPr>
                <a:xfrm>
                  <a:off x="3831724" y="1115122"/>
                  <a:ext cx="2654344" cy="5664819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00" b="1">
                      <a:solidFill>
                        <a:schemeClr val="bg1"/>
                      </a:solidFill>
                    </a:rPr>
                    <a:t>AID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39431E9-36BE-9AB7-BD96-0A4F22ED56B2}"/>
                    </a:ext>
                  </a:extLst>
                </p:cNvPr>
                <p:cNvSpPr/>
                <p:nvPr/>
              </p:nvSpPr>
              <p:spPr>
                <a:xfrm>
                  <a:off x="3953669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9E69E28-C907-5FFF-935C-7AD95E445470}"/>
                    </a:ext>
                  </a:extLst>
                </p:cNvPr>
                <p:cNvSpPr/>
                <p:nvPr/>
              </p:nvSpPr>
              <p:spPr>
                <a:xfrm>
                  <a:off x="3953669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28" name="Connector: Elbow 27">
                  <a:extLst>
                    <a:ext uri="{FF2B5EF4-FFF2-40B4-BE49-F238E27FC236}">
                      <a16:creationId xmlns:a16="http://schemas.microsoft.com/office/drawing/2014/main" id="{A5B7E291-5E64-9886-13FD-0F10DC9C4FCC}"/>
                    </a:ext>
                  </a:extLst>
                </p:cNvPr>
                <p:cNvCxnSpPr>
                  <a:cxnSpLocks/>
                  <a:stCxn id="34" idx="3"/>
                  <a:endCxn id="36" idx="0"/>
                </p:cNvCxnSpPr>
                <p:nvPr/>
              </p:nvCxnSpPr>
              <p:spPr>
                <a:xfrm flipV="1">
                  <a:off x="5836896" y="1581911"/>
                  <a:ext cx="387587" cy="1922159"/>
                </a:xfrm>
                <a:prstGeom prst="bentConnector4">
                  <a:avLst>
                    <a:gd name="adj1" fmla="val 28681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or: Elbow 28">
                  <a:extLst>
                    <a:ext uri="{FF2B5EF4-FFF2-40B4-BE49-F238E27FC236}">
                      <a16:creationId xmlns:a16="http://schemas.microsoft.com/office/drawing/2014/main" id="{9001CC70-741D-F9C3-8C6E-FDFAEFBA4E90}"/>
                    </a:ext>
                  </a:extLst>
                </p:cNvPr>
                <p:cNvCxnSpPr>
                  <a:cxnSpLocks/>
                  <a:stCxn id="35" idx="3"/>
                  <a:endCxn id="36" idx="2"/>
                </p:cNvCxnSpPr>
                <p:nvPr/>
              </p:nvCxnSpPr>
              <p:spPr>
                <a:xfrm>
                  <a:off x="5836896" y="4075244"/>
                  <a:ext cx="387587" cy="1932364"/>
                </a:xfrm>
                <a:prstGeom prst="bentConnector4">
                  <a:avLst>
                    <a:gd name="adj1" fmla="val 28681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or: Elbow 29">
                  <a:extLst>
                    <a:ext uri="{FF2B5EF4-FFF2-40B4-BE49-F238E27FC236}">
                      <a16:creationId xmlns:a16="http://schemas.microsoft.com/office/drawing/2014/main" id="{029DAB9B-0686-6BB1-EAED-61C05E465842}"/>
                    </a:ext>
                  </a:extLst>
                </p:cNvPr>
                <p:cNvCxnSpPr>
                  <a:cxnSpLocks/>
                  <a:endCxn id="32" idx="2"/>
                </p:cNvCxnSpPr>
                <p:nvPr/>
              </p:nvCxnSpPr>
              <p:spPr>
                <a:xfrm flipV="1">
                  <a:off x="6389745" y="3101512"/>
                  <a:ext cx="564713" cy="327486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Connector: Elbow 30">
                  <a:extLst>
                    <a:ext uri="{FF2B5EF4-FFF2-40B4-BE49-F238E27FC236}">
                      <a16:creationId xmlns:a16="http://schemas.microsoft.com/office/drawing/2014/main" id="{7ABB0E9A-2CE2-DFD2-88F7-DA19DB5BD3B5}"/>
                    </a:ext>
                  </a:extLst>
                </p:cNvPr>
                <p:cNvCxnSpPr>
                  <a:cxnSpLocks/>
                  <a:endCxn id="33" idx="0"/>
                </p:cNvCxnSpPr>
                <p:nvPr/>
              </p:nvCxnSpPr>
              <p:spPr>
                <a:xfrm>
                  <a:off x="6389745" y="4194051"/>
                  <a:ext cx="564711" cy="278714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4580165-EB0C-3B60-B428-0A6195EBCB49}"/>
                    </a:ext>
                  </a:extLst>
                </p:cNvPr>
                <p:cNvSpPr/>
                <p:nvPr/>
              </p:nvSpPr>
              <p:spPr>
                <a:xfrm>
                  <a:off x="6553710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6BB1926-2BD9-F37B-916F-45E68010FD75}"/>
                    </a:ext>
                  </a:extLst>
                </p:cNvPr>
                <p:cNvSpPr/>
                <p:nvPr/>
              </p:nvSpPr>
              <p:spPr>
                <a:xfrm>
                  <a:off x="6553709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79EACF6F-CE1B-315D-454A-FE6CCB45ED67}"/>
                    </a:ext>
                  </a:extLst>
                </p:cNvPr>
                <p:cNvSpPr/>
                <p:nvPr/>
              </p:nvSpPr>
              <p:spPr>
                <a:xfrm>
                  <a:off x="3953669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D95A008-6FBE-91A9-9FA2-01EBAF8F2E6E}"/>
                    </a:ext>
                  </a:extLst>
                </p:cNvPr>
                <p:cNvSpPr/>
                <p:nvPr/>
              </p:nvSpPr>
              <p:spPr>
                <a:xfrm>
                  <a:off x="3953669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A8EB312-9C49-037E-1DB8-D73852C0A351}"/>
                    </a:ext>
                  </a:extLst>
                </p:cNvPr>
                <p:cNvSpPr/>
                <p:nvPr/>
              </p:nvSpPr>
              <p:spPr>
                <a:xfrm>
                  <a:off x="6059222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6F2032-0713-6B28-916C-86E5BF29CC41}"/>
                </a:ext>
              </a:extLst>
            </p:cNvPr>
            <p:cNvSpPr/>
            <p:nvPr/>
          </p:nvSpPr>
          <p:spPr>
            <a:xfrm>
              <a:off x="2508593" y="1249203"/>
              <a:ext cx="92279" cy="246579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FF4AD4-8B07-C231-2AB6-33415D09B86D}"/>
                </a:ext>
              </a:extLst>
            </p:cNvPr>
            <p:cNvSpPr/>
            <p:nvPr/>
          </p:nvSpPr>
          <p:spPr>
            <a:xfrm>
              <a:off x="2497637" y="3981541"/>
              <a:ext cx="107904" cy="246579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C001BD-6257-735C-D863-444311CC6FF2}"/>
                </a:ext>
              </a:extLst>
            </p:cNvPr>
            <p:cNvSpPr/>
            <p:nvPr/>
          </p:nvSpPr>
          <p:spPr>
            <a:xfrm rot="16200000">
              <a:off x="1809620" y="3254764"/>
              <a:ext cx="107904" cy="11836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35CFDF-1220-1E4F-C906-63B5E121989F}"/>
                </a:ext>
              </a:extLst>
            </p:cNvPr>
            <p:cNvSpPr/>
            <p:nvPr/>
          </p:nvSpPr>
          <p:spPr>
            <a:xfrm rot="16200000">
              <a:off x="3179717" y="3254764"/>
              <a:ext cx="107904" cy="11836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66D68AB-E0A9-55F4-1CAE-FC88168CC6BE}"/>
              </a:ext>
            </a:extLst>
          </p:cNvPr>
          <p:cNvGrpSpPr/>
          <p:nvPr/>
        </p:nvGrpSpPr>
        <p:grpSpPr>
          <a:xfrm>
            <a:off x="6882565" y="567466"/>
            <a:ext cx="1335793" cy="1335463"/>
            <a:chOff x="3785836" y="1412162"/>
            <a:chExt cx="1560039" cy="155965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2860C36-3143-6C15-793A-35BFA419D39D}"/>
                </a:ext>
              </a:extLst>
            </p:cNvPr>
            <p:cNvGrpSpPr/>
            <p:nvPr/>
          </p:nvGrpSpPr>
          <p:grpSpPr>
            <a:xfrm>
              <a:off x="4617830" y="2248375"/>
              <a:ext cx="723965" cy="723441"/>
              <a:chOff x="4154928" y="3685206"/>
              <a:chExt cx="917512" cy="916849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3068737B-785D-3423-8EA4-1FC739AAAED8}"/>
                  </a:ext>
                </a:extLst>
              </p:cNvPr>
              <p:cNvGrpSpPr/>
              <p:nvPr/>
            </p:nvGrpSpPr>
            <p:grpSpPr>
              <a:xfrm>
                <a:off x="4154928" y="3685206"/>
                <a:ext cx="453585" cy="454205"/>
                <a:chOff x="4253059" y="3722156"/>
                <a:chExt cx="453585" cy="454205"/>
              </a:xfrm>
              <a:solidFill>
                <a:srgbClr val="00B050"/>
              </a:solidFill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FB6DCD93-0B04-6C36-A634-C23F61F31829}"/>
                    </a:ext>
                  </a:extLst>
                </p:cNvPr>
                <p:cNvSpPr/>
                <p:nvPr/>
              </p:nvSpPr>
              <p:spPr bwMode="auto">
                <a:xfrm>
                  <a:off x="4253059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4F539C16-91CA-7F91-11B0-8948911B026A}"/>
                    </a:ext>
                  </a:extLst>
                </p:cNvPr>
                <p:cNvSpPr/>
                <p:nvPr/>
              </p:nvSpPr>
              <p:spPr bwMode="auto">
                <a:xfrm>
                  <a:off x="4484240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9E47D663-C9A2-D5F2-D9E0-5F7C779757F5}"/>
                    </a:ext>
                  </a:extLst>
                </p:cNvPr>
                <p:cNvSpPr/>
                <p:nvPr/>
              </p:nvSpPr>
              <p:spPr bwMode="auto">
                <a:xfrm>
                  <a:off x="4253059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C61ACD19-E753-5C6A-1D26-DDDE0860A12B}"/>
                    </a:ext>
                  </a:extLst>
                </p:cNvPr>
                <p:cNvSpPr/>
                <p:nvPr/>
              </p:nvSpPr>
              <p:spPr bwMode="auto">
                <a:xfrm>
                  <a:off x="4484240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2F91C54D-727D-3473-D82A-759C2A164942}"/>
                  </a:ext>
                </a:extLst>
              </p:cNvPr>
              <p:cNvGrpSpPr/>
              <p:nvPr/>
            </p:nvGrpSpPr>
            <p:grpSpPr>
              <a:xfrm>
                <a:off x="4618856" y="3685206"/>
                <a:ext cx="453584" cy="454205"/>
                <a:chOff x="4716987" y="3722156"/>
                <a:chExt cx="453584" cy="454205"/>
              </a:xfrm>
              <a:solidFill>
                <a:srgbClr val="FFFF00"/>
              </a:solidFill>
            </p:grpSpPr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8ECA661A-B8A4-7986-9A9B-2B68023513F2}"/>
                    </a:ext>
                  </a:extLst>
                </p:cNvPr>
                <p:cNvSpPr/>
                <p:nvPr/>
              </p:nvSpPr>
              <p:spPr bwMode="auto">
                <a:xfrm>
                  <a:off x="4716987" y="3722156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5FDBC259-7BFE-C708-8B5D-11DF37F3A27F}"/>
                    </a:ext>
                  </a:extLst>
                </p:cNvPr>
                <p:cNvSpPr/>
                <p:nvPr/>
              </p:nvSpPr>
              <p:spPr bwMode="auto">
                <a:xfrm>
                  <a:off x="4948167" y="3722156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4031D22-438F-3BB0-797A-E19756F38D27}"/>
                    </a:ext>
                  </a:extLst>
                </p:cNvPr>
                <p:cNvSpPr/>
                <p:nvPr/>
              </p:nvSpPr>
              <p:spPr bwMode="auto">
                <a:xfrm>
                  <a:off x="4716987" y="3953957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3622B8F7-CD95-FB4D-C177-C14EE4FB25B7}"/>
                    </a:ext>
                  </a:extLst>
                </p:cNvPr>
                <p:cNvSpPr/>
                <p:nvPr/>
              </p:nvSpPr>
              <p:spPr bwMode="auto">
                <a:xfrm>
                  <a:off x="4948167" y="3953957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93E605B7-052E-AE1F-4132-C6C2ACE97ACD}"/>
                  </a:ext>
                </a:extLst>
              </p:cNvPr>
              <p:cNvGrpSpPr/>
              <p:nvPr/>
            </p:nvGrpSpPr>
            <p:grpSpPr>
              <a:xfrm>
                <a:off x="4154928" y="4147850"/>
                <a:ext cx="453585" cy="454205"/>
                <a:chOff x="4253059" y="4184800"/>
                <a:chExt cx="453585" cy="454205"/>
              </a:xfrm>
              <a:solidFill>
                <a:srgbClr val="7030A0"/>
              </a:solidFill>
            </p:grpSpPr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1FE4B894-05B5-0F86-741D-3A0BD98EEB5D}"/>
                    </a:ext>
                  </a:extLst>
                </p:cNvPr>
                <p:cNvSpPr/>
                <p:nvPr/>
              </p:nvSpPr>
              <p:spPr bwMode="auto">
                <a:xfrm>
                  <a:off x="4253059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0B442B84-2E80-1331-EBB1-D7F8C55989F5}"/>
                    </a:ext>
                  </a:extLst>
                </p:cNvPr>
                <p:cNvSpPr/>
                <p:nvPr/>
              </p:nvSpPr>
              <p:spPr bwMode="auto">
                <a:xfrm>
                  <a:off x="4484240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09B0DAB-EAEA-0214-7680-545AB94DAA68}"/>
                    </a:ext>
                  </a:extLst>
                </p:cNvPr>
                <p:cNvSpPr/>
                <p:nvPr/>
              </p:nvSpPr>
              <p:spPr bwMode="auto">
                <a:xfrm>
                  <a:off x="4253059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B90A1EA-09F0-3F94-C022-D653C96D7130}"/>
                    </a:ext>
                  </a:extLst>
                </p:cNvPr>
                <p:cNvSpPr/>
                <p:nvPr/>
              </p:nvSpPr>
              <p:spPr bwMode="auto">
                <a:xfrm>
                  <a:off x="4484240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7C8E94B-6D8D-15A9-49BC-F15862763B7D}"/>
                  </a:ext>
                </a:extLst>
              </p:cNvPr>
              <p:cNvGrpSpPr/>
              <p:nvPr/>
            </p:nvGrpSpPr>
            <p:grpSpPr>
              <a:xfrm>
                <a:off x="4618856" y="4147850"/>
                <a:ext cx="453584" cy="454205"/>
                <a:chOff x="4716987" y="4184800"/>
                <a:chExt cx="453584" cy="454205"/>
              </a:xfrm>
              <a:solidFill>
                <a:srgbClr val="FF0000"/>
              </a:solidFill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AEF28D8B-428E-4C49-6F67-742F8C65EE24}"/>
                    </a:ext>
                  </a:extLst>
                </p:cNvPr>
                <p:cNvSpPr/>
                <p:nvPr/>
              </p:nvSpPr>
              <p:spPr bwMode="auto">
                <a:xfrm>
                  <a:off x="4716987" y="4184800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C4E0298-3F7C-1BCA-C8F5-AD6D03DBEB46}"/>
                    </a:ext>
                  </a:extLst>
                </p:cNvPr>
                <p:cNvSpPr/>
                <p:nvPr/>
              </p:nvSpPr>
              <p:spPr bwMode="auto">
                <a:xfrm>
                  <a:off x="4948167" y="4184800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782554BE-3E9F-EAF9-E029-4C297F741150}"/>
                    </a:ext>
                  </a:extLst>
                </p:cNvPr>
                <p:cNvSpPr/>
                <p:nvPr/>
              </p:nvSpPr>
              <p:spPr bwMode="auto">
                <a:xfrm>
                  <a:off x="4716987" y="4416601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6E1B823F-5C4E-1D5D-13B0-02C6318CA6CF}"/>
                    </a:ext>
                  </a:extLst>
                </p:cNvPr>
                <p:cNvSpPr/>
                <p:nvPr/>
              </p:nvSpPr>
              <p:spPr bwMode="auto">
                <a:xfrm>
                  <a:off x="4948167" y="4416601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55CE971-1F08-2BFF-F29E-8F2F487B00F1}"/>
                </a:ext>
              </a:extLst>
            </p:cNvPr>
            <p:cNvGrpSpPr/>
            <p:nvPr/>
          </p:nvGrpSpPr>
          <p:grpSpPr>
            <a:xfrm>
              <a:off x="3785836" y="2248375"/>
              <a:ext cx="357902" cy="358391"/>
              <a:chOff x="4253059" y="3722156"/>
              <a:chExt cx="453585" cy="454205"/>
            </a:xfrm>
            <a:noFill/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56412DBE-68B4-9226-6B7E-658CA857472A}"/>
                  </a:ext>
                </a:extLst>
              </p:cNvPr>
              <p:cNvSpPr/>
              <p:nvPr/>
            </p:nvSpPr>
            <p:spPr bwMode="auto">
              <a:xfrm>
                <a:off x="4253059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740DE5B-2676-AF28-7B77-FB854C6E911A}"/>
                  </a:ext>
                </a:extLst>
              </p:cNvPr>
              <p:cNvSpPr/>
              <p:nvPr/>
            </p:nvSpPr>
            <p:spPr bwMode="auto">
              <a:xfrm>
                <a:off x="4484240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B646F6B0-C405-A4C7-49A8-411BA27C18C4}"/>
                  </a:ext>
                </a:extLst>
              </p:cNvPr>
              <p:cNvSpPr/>
              <p:nvPr/>
            </p:nvSpPr>
            <p:spPr bwMode="auto">
              <a:xfrm>
                <a:off x="4253059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8AA8CE1-366F-8A53-AA59-78CA1C0065BE}"/>
                  </a:ext>
                </a:extLst>
              </p:cNvPr>
              <p:cNvSpPr/>
              <p:nvPr/>
            </p:nvSpPr>
            <p:spPr bwMode="auto">
              <a:xfrm>
                <a:off x="4484240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B082A7C-2C41-8E31-E87A-CE47F3792315}"/>
                </a:ext>
              </a:extLst>
            </p:cNvPr>
            <p:cNvGrpSpPr/>
            <p:nvPr/>
          </p:nvGrpSpPr>
          <p:grpSpPr>
            <a:xfrm>
              <a:off x="4151899" y="2248375"/>
              <a:ext cx="357901" cy="358391"/>
              <a:chOff x="4716987" y="3722156"/>
              <a:chExt cx="453584" cy="454205"/>
            </a:xfrm>
            <a:no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A56DAFE-D208-D2C7-68EA-292718AACA6F}"/>
                  </a:ext>
                </a:extLst>
              </p:cNvPr>
              <p:cNvSpPr/>
              <p:nvPr/>
            </p:nvSpPr>
            <p:spPr bwMode="auto">
              <a:xfrm>
                <a:off x="4716987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AFBF811-95AA-CE54-1840-A91A3620CCDD}"/>
                  </a:ext>
                </a:extLst>
              </p:cNvPr>
              <p:cNvSpPr/>
              <p:nvPr/>
            </p:nvSpPr>
            <p:spPr bwMode="auto">
              <a:xfrm>
                <a:off x="4948167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99982E32-800C-D936-90FD-227CCFB8B389}"/>
                  </a:ext>
                </a:extLst>
              </p:cNvPr>
              <p:cNvSpPr/>
              <p:nvPr/>
            </p:nvSpPr>
            <p:spPr bwMode="auto">
              <a:xfrm>
                <a:off x="4716987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06EC7095-7A24-EA7C-63AB-4D8D8EB88CAF}"/>
                  </a:ext>
                </a:extLst>
              </p:cNvPr>
              <p:cNvSpPr/>
              <p:nvPr/>
            </p:nvSpPr>
            <p:spPr bwMode="auto">
              <a:xfrm>
                <a:off x="4948167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5E75018-3097-3EEE-439A-D9AA2BEEBFB8}"/>
                </a:ext>
              </a:extLst>
            </p:cNvPr>
            <p:cNvGrpSpPr/>
            <p:nvPr/>
          </p:nvGrpSpPr>
          <p:grpSpPr>
            <a:xfrm>
              <a:off x="3785836" y="2613425"/>
              <a:ext cx="357902" cy="358391"/>
              <a:chOff x="4253059" y="4184800"/>
              <a:chExt cx="453585" cy="454205"/>
            </a:xfrm>
            <a:noFill/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40DE0A8-96A9-D7C1-BCF7-209FFEF51E25}"/>
                  </a:ext>
                </a:extLst>
              </p:cNvPr>
              <p:cNvSpPr/>
              <p:nvPr/>
            </p:nvSpPr>
            <p:spPr bwMode="auto">
              <a:xfrm>
                <a:off x="4253059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21A629E-7CE9-29F6-9FAD-280E7FEC1310}"/>
                  </a:ext>
                </a:extLst>
              </p:cNvPr>
              <p:cNvSpPr/>
              <p:nvPr/>
            </p:nvSpPr>
            <p:spPr bwMode="auto">
              <a:xfrm>
                <a:off x="4484240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88A2199E-5922-33C4-EB46-59847D0BC0A5}"/>
                  </a:ext>
                </a:extLst>
              </p:cNvPr>
              <p:cNvSpPr/>
              <p:nvPr/>
            </p:nvSpPr>
            <p:spPr bwMode="auto">
              <a:xfrm>
                <a:off x="4253059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C8A46B1B-8EE3-F8C5-A459-91860032A417}"/>
                  </a:ext>
                </a:extLst>
              </p:cNvPr>
              <p:cNvSpPr/>
              <p:nvPr/>
            </p:nvSpPr>
            <p:spPr bwMode="auto">
              <a:xfrm>
                <a:off x="4484240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1D9979B-3D32-25D6-BFC8-FABD10BED30E}"/>
                </a:ext>
              </a:extLst>
            </p:cNvPr>
            <p:cNvGrpSpPr/>
            <p:nvPr/>
          </p:nvGrpSpPr>
          <p:grpSpPr>
            <a:xfrm>
              <a:off x="4151899" y="2613425"/>
              <a:ext cx="357901" cy="358391"/>
              <a:chOff x="4716987" y="4184800"/>
              <a:chExt cx="453584" cy="454205"/>
            </a:xfrm>
            <a:noFill/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9F3803D-7286-924F-86C8-98B22DD16944}"/>
                  </a:ext>
                </a:extLst>
              </p:cNvPr>
              <p:cNvSpPr/>
              <p:nvPr/>
            </p:nvSpPr>
            <p:spPr bwMode="auto">
              <a:xfrm>
                <a:off x="4716987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907BA67-E541-487F-623B-D24DA97029D5}"/>
                  </a:ext>
                </a:extLst>
              </p:cNvPr>
              <p:cNvSpPr/>
              <p:nvPr/>
            </p:nvSpPr>
            <p:spPr bwMode="auto">
              <a:xfrm>
                <a:off x="4948167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A794A39-1FAD-D1F9-0DEE-8392051B9BB5}"/>
                  </a:ext>
                </a:extLst>
              </p:cNvPr>
              <p:cNvSpPr/>
              <p:nvPr/>
            </p:nvSpPr>
            <p:spPr bwMode="auto">
              <a:xfrm>
                <a:off x="4716987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41058E5-50BB-76E6-E95F-D3FE744B3D24}"/>
                  </a:ext>
                </a:extLst>
              </p:cNvPr>
              <p:cNvSpPr/>
              <p:nvPr/>
            </p:nvSpPr>
            <p:spPr bwMode="auto">
              <a:xfrm>
                <a:off x="4948167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142AB64-05E1-71FD-8BD2-20421236CC44}"/>
                </a:ext>
              </a:extLst>
            </p:cNvPr>
            <p:cNvGrpSpPr/>
            <p:nvPr/>
          </p:nvGrpSpPr>
          <p:grpSpPr>
            <a:xfrm>
              <a:off x="4621910" y="1412162"/>
              <a:ext cx="723965" cy="723441"/>
              <a:chOff x="4154928" y="3685206"/>
              <a:chExt cx="917512" cy="916849"/>
            </a:xfrm>
            <a:noFill/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A10A29C-CC67-2830-44A5-E1A1C439712A}"/>
                  </a:ext>
                </a:extLst>
              </p:cNvPr>
              <p:cNvGrpSpPr/>
              <p:nvPr/>
            </p:nvGrpSpPr>
            <p:grpSpPr>
              <a:xfrm>
                <a:off x="4154928" y="3685206"/>
                <a:ext cx="453585" cy="454205"/>
                <a:chOff x="4253059" y="3722156"/>
                <a:chExt cx="453585" cy="454205"/>
              </a:xfrm>
              <a:grpFill/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AB8BCA45-C085-3BAE-0CB9-5D6EAAD63769}"/>
                    </a:ext>
                  </a:extLst>
                </p:cNvPr>
                <p:cNvSpPr/>
                <p:nvPr/>
              </p:nvSpPr>
              <p:spPr bwMode="auto">
                <a:xfrm>
                  <a:off x="4253059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84E13CC6-4FFC-DB8F-6B36-5C4B4FBAB02C}"/>
                    </a:ext>
                  </a:extLst>
                </p:cNvPr>
                <p:cNvSpPr/>
                <p:nvPr/>
              </p:nvSpPr>
              <p:spPr bwMode="auto">
                <a:xfrm>
                  <a:off x="4484240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9B06244E-F07D-8424-1B3C-F4BDA50FED11}"/>
                    </a:ext>
                  </a:extLst>
                </p:cNvPr>
                <p:cNvSpPr/>
                <p:nvPr/>
              </p:nvSpPr>
              <p:spPr bwMode="auto">
                <a:xfrm>
                  <a:off x="4253059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366F640F-9EA2-7EDF-037A-9C74A4EC01DB}"/>
                    </a:ext>
                  </a:extLst>
                </p:cNvPr>
                <p:cNvSpPr/>
                <p:nvPr/>
              </p:nvSpPr>
              <p:spPr bwMode="auto">
                <a:xfrm>
                  <a:off x="4484240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0C476BE-4D10-94F6-C84B-89AA5C535CAD}"/>
                  </a:ext>
                </a:extLst>
              </p:cNvPr>
              <p:cNvGrpSpPr/>
              <p:nvPr/>
            </p:nvGrpSpPr>
            <p:grpSpPr>
              <a:xfrm>
                <a:off x="4618856" y="3685206"/>
                <a:ext cx="453584" cy="454205"/>
                <a:chOff x="4716987" y="3722156"/>
                <a:chExt cx="453584" cy="454205"/>
              </a:xfrm>
              <a:grpFill/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EEB99DE4-1EC2-34A9-225E-6E2C8F076599}"/>
                    </a:ext>
                  </a:extLst>
                </p:cNvPr>
                <p:cNvSpPr/>
                <p:nvPr/>
              </p:nvSpPr>
              <p:spPr bwMode="auto">
                <a:xfrm>
                  <a:off x="4716987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858A173-4C21-A117-054A-0A459022160B}"/>
                    </a:ext>
                  </a:extLst>
                </p:cNvPr>
                <p:cNvSpPr/>
                <p:nvPr/>
              </p:nvSpPr>
              <p:spPr bwMode="auto">
                <a:xfrm>
                  <a:off x="4948167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EEAB92A-FC2D-FF55-4706-C038AF7A18B3}"/>
                    </a:ext>
                  </a:extLst>
                </p:cNvPr>
                <p:cNvSpPr/>
                <p:nvPr/>
              </p:nvSpPr>
              <p:spPr bwMode="auto">
                <a:xfrm>
                  <a:off x="4716987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1975AB2B-7928-0660-E67D-B4B4B9C6BEFD}"/>
                    </a:ext>
                  </a:extLst>
                </p:cNvPr>
                <p:cNvSpPr/>
                <p:nvPr/>
              </p:nvSpPr>
              <p:spPr bwMode="auto">
                <a:xfrm>
                  <a:off x="4948167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711A05F-2E44-D7A2-0027-EEBD19820E7A}"/>
                  </a:ext>
                </a:extLst>
              </p:cNvPr>
              <p:cNvGrpSpPr/>
              <p:nvPr/>
            </p:nvGrpSpPr>
            <p:grpSpPr>
              <a:xfrm>
                <a:off x="4154928" y="4147850"/>
                <a:ext cx="453585" cy="454205"/>
                <a:chOff x="4253059" y="4184800"/>
                <a:chExt cx="453585" cy="454205"/>
              </a:xfrm>
              <a:grpFill/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1E7BA59A-8C4E-9E33-C709-3DF2D5DBFFAF}"/>
                    </a:ext>
                  </a:extLst>
                </p:cNvPr>
                <p:cNvSpPr/>
                <p:nvPr/>
              </p:nvSpPr>
              <p:spPr bwMode="auto">
                <a:xfrm>
                  <a:off x="4253059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99D79F5-B70A-FC93-7146-B31FDFCCC532}"/>
                    </a:ext>
                  </a:extLst>
                </p:cNvPr>
                <p:cNvSpPr/>
                <p:nvPr/>
              </p:nvSpPr>
              <p:spPr bwMode="auto">
                <a:xfrm>
                  <a:off x="4484240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0070373-16E8-435D-DD1C-06A44B4FBC71}"/>
                    </a:ext>
                  </a:extLst>
                </p:cNvPr>
                <p:cNvSpPr/>
                <p:nvPr/>
              </p:nvSpPr>
              <p:spPr bwMode="auto">
                <a:xfrm>
                  <a:off x="4253059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7B72CC66-6733-912D-E0EE-8476A31A9CC6}"/>
                    </a:ext>
                  </a:extLst>
                </p:cNvPr>
                <p:cNvSpPr/>
                <p:nvPr/>
              </p:nvSpPr>
              <p:spPr bwMode="auto">
                <a:xfrm>
                  <a:off x="4484240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39AD0823-1575-F732-4319-F585DE882DD6}"/>
                  </a:ext>
                </a:extLst>
              </p:cNvPr>
              <p:cNvGrpSpPr/>
              <p:nvPr/>
            </p:nvGrpSpPr>
            <p:grpSpPr>
              <a:xfrm>
                <a:off x="4618856" y="4147850"/>
                <a:ext cx="453584" cy="454205"/>
                <a:chOff x="4716987" y="4184800"/>
                <a:chExt cx="453584" cy="454205"/>
              </a:xfrm>
              <a:grpFill/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15917F3F-2F17-558E-CBA6-3BB3A5AAD051}"/>
                    </a:ext>
                  </a:extLst>
                </p:cNvPr>
                <p:cNvSpPr/>
                <p:nvPr/>
              </p:nvSpPr>
              <p:spPr bwMode="auto">
                <a:xfrm>
                  <a:off x="4716987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8CE1EE8D-AF08-348B-AACF-9EBEECE4267B}"/>
                    </a:ext>
                  </a:extLst>
                </p:cNvPr>
                <p:cNvSpPr/>
                <p:nvPr/>
              </p:nvSpPr>
              <p:spPr bwMode="auto">
                <a:xfrm>
                  <a:off x="4948167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FE26C637-B9F4-C9C1-4515-8167D019FEF9}"/>
                    </a:ext>
                  </a:extLst>
                </p:cNvPr>
                <p:cNvSpPr/>
                <p:nvPr/>
              </p:nvSpPr>
              <p:spPr bwMode="auto">
                <a:xfrm>
                  <a:off x="4716987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F54386C2-3E8F-10EB-4837-38AB0618ED7B}"/>
                    </a:ext>
                  </a:extLst>
                </p:cNvPr>
                <p:cNvSpPr/>
                <p:nvPr/>
              </p:nvSpPr>
              <p:spPr bwMode="auto">
                <a:xfrm>
                  <a:off x="4948167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C73B1E-1FB9-AA78-6EEA-EF609EACD361}"/>
              </a:ext>
            </a:extLst>
          </p:cNvPr>
          <p:cNvGrpSpPr/>
          <p:nvPr/>
        </p:nvGrpSpPr>
        <p:grpSpPr>
          <a:xfrm>
            <a:off x="6729870" y="4585864"/>
            <a:ext cx="1545188" cy="1706750"/>
            <a:chOff x="7351062" y="1428905"/>
            <a:chExt cx="3916183" cy="4325653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7A45F2C9-CD49-6C00-CB28-5C86EBA17E2C}"/>
                </a:ext>
              </a:extLst>
            </p:cNvPr>
            <p:cNvGrpSpPr/>
            <p:nvPr/>
          </p:nvGrpSpPr>
          <p:grpSpPr>
            <a:xfrm>
              <a:off x="7351062" y="1428905"/>
              <a:ext cx="3916183" cy="4325653"/>
              <a:chOff x="3994598" y="1548113"/>
              <a:chExt cx="3969303" cy="4384327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D2A5ED0-B871-2D2E-3231-81F3C3422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835" y="2075695"/>
                <a:ext cx="0" cy="3856745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17FBFDF-EF24-D4AC-3D05-E1C3C40D1897}"/>
                  </a:ext>
                </a:extLst>
              </p:cNvPr>
              <p:cNvSpPr txBox="1"/>
              <p:nvPr/>
            </p:nvSpPr>
            <p:spPr>
              <a:xfrm rot="16200000">
                <a:off x="3670834" y="3943421"/>
                <a:ext cx="766119" cy="1185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300" b="1">
                    <a:cs typeface="Arial"/>
                  </a:rPr>
                  <a:t>TIME</a:t>
                </a:r>
              </a:p>
            </p:txBody>
          </p: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6827F69-4C61-849C-CFE1-857C83BC0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6241" y="2028964"/>
                <a:ext cx="0" cy="38567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2EE59D80-5679-79D3-0E66-310B844CC24F}"/>
                  </a:ext>
                </a:extLst>
              </p:cNvPr>
              <p:cNvCxnSpPr/>
              <p:nvPr/>
            </p:nvCxnSpPr>
            <p:spPr>
              <a:xfrm>
                <a:off x="5871549" y="2035213"/>
                <a:ext cx="0" cy="38567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2E2AADF-C458-66D6-89C5-C0EB9F73D1C1}"/>
                  </a:ext>
                </a:extLst>
              </p:cNvPr>
              <p:cNvSpPr/>
              <p:nvPr/>
            </p:nvSpPr>
            <p:spPr>
              <a:xfrm>
                <a:off x="4748571" y="2124291"/>
                <a:ext cx="273241" cy="271165"/>
              </a:xfrm>
              <a:prstGeom prst="rect">
                <a:avLst/>
              </a:prstGeom>
              <a:solidFill>
                <a:schemeClr val="accent4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C48C7CC-C445-6983-2E5E-BEF17D57B954}"/>
                  </a:ext>
                </a:extLst>
              </p:cNvPr>
              <p:cNvSpPr/>
              <p:nvPr/>
            </p:nvSpPr>
            <p:spPr>
              <a:xfrm>
                <a:off x="5659596" y="2395456"/>
                <a:ext cx="450450" cy="2817413"/>
              </a:xfrm>
              <a:prstGeom prst="rect">
                <a:avLst/>
              </a:prstGeom>
              <a:gradFill>
                <a:gsLst>
                  <a:gs pos="0">
                    <a:srgbClr val="6014F9"/>
                  </a:gs>
                  <a:gs pos="52000">
                    <a:srgbClr val="8526EF">
                      <a:lumMod val="93000"/>
                      <a:lumOff val="7000"/>
                    </a:srgbClr>
                  </a:gs>
                  <a:gs pos="100000">
                    <a:srgbClr val="9529EB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9DF4D75-CCF3-C0A6-F82F-694796FAB1D2}"/>
                  </a:ext>
                </a:extLst>
              </p:cNvPr>
              <p:cNvSpPr/>
              <p:nvPr/>
            </p:nvSpPr>
            <p:spPr>
              <a:xfrm>
                <a:off x="4740480" y="2490783"/>
                <a:ext cx="273244" cy="2913787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5013F295-8B1C-7F23-160F-E62DA9DB87E1}"/>
                  </a:ext>
                </a:extLst>
              </p:cNvPr>
              <p:cNvSpPr/>
              <p:nvPr/>
            </p:nvSpPr>
            <p:spPr>
              <a:xfrm>
                <a:off x="4564175" y="5550017"/>
                <a:ext cx="633173" cy="252763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7E5DDBF-A8E3-77E4-6BC3-A7E8C5A18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8905" y="2035212"/>
                <a:ext cx="0" cy="38567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74ECF848-0BCD-25EA-F145-3E0FBED352D0}"/>
                  </a:ext>
                </a:extLst>
              </p:cNvPr>
              <p:cNvSpPr/>
              <p:nvPr/>
            </p:nvSpPr>
            <p:spPr>
              <a:xfrm>
                <a:off x="6466952" y="2395456"/>
                <a:ext cx="450450" cy="2817413"/>
              </a:xfrm>
              <a:prstGeom prst="rect">
                <a:avLst/>
              </a:prstGeom>
              <a:gradFill>
                <a:gsLst>
                  <a:gs pos="0">
                    <a:srgbClr val="6014F9"/>
                  </a:gs>
                  <a:gs pos="52000">
                    <a:srgbClr val="8526EF">
                      <a:lumMod val="93000"/>
                      <a:lumOff val="7000"/>
                    </a:srgbClr>
                  </a:gs>
                  <a:gs pos="100000">
                    <a:srgbClr val="9529EB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86906EE1-D3D2-2964-EC01-8A7B141D1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6697" y="2035212"/>
                <a:ext cx="0" cy="38567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886248C-32AE-8336-94FB-BC371E4F217D}"/>
                  </a:ext>
                </a:extLst>
              </p:cNvPr>
              <p:cNvSpPr/>
              <p:nvPr/>
            </p:nvSpPr>
            <p:spPr>
              <a:xfrm>
                <a:off x="7264744" y="2414395"/>
                <a:ext cx="450450" cy="2817413"/>
              </a:xfrm>
              <a:prstGeom prst="rect">
                <a:avLst/>
              </a:prstGeom>
              <a:gradFill>
                <a:gsLst>
                  <a:gs pos="0">
                    <a:srgbClr val="6014F9"/>
                  </a:gs>
                  <a:gs pos="52000">
                    <a:srgbClr val="8526EF">
                      <a:lumMod val="93000"/>
                      <a:lumOff val="7000"/>
                    </a:srgbClr>
                  </a:gs>
                  <a:gs pos="100000">
                    <a:srgbClr val="9529EB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3627A866-F84A-477E-F4E2-A7D26D2975D8}"/>
                  </a:ext>
                </a:extLst>
              </p:cNvPr>
              <p:cNvCxnSpPr>
                <a:cxnSpLocks/>
                <a:stCxn id="138" idx="3"/>
              </p:cNvCxnSpPr>
              <p:nvPr/>
            </p:nvCxnSpPr>
            <p:spPr>
              <a:xfrm>
                <a:off x="5021812" y="2259873"/>
                <a:ext cx="2235051" cy="15193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95BE4468-65C0-6A4D-24DC-EF492B0124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9692" y="5212869"/>
                <a:ext cx="609526" cy="15044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9EFBF09-EE4E-74C1-2A6D-217CBBBB9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4927" y="246019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D949C0D1-0899-E141-BDF1-65F9930FCA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7002" y="245025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5C70DBFD-3B97-E307-2252-A922AD256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9415" y="2684169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AD674A5-A05C-570F-BA9A-5B9E5F9772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1490" y="2674231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19C9078-5375-B635-1344-5820742898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5052" y="2906076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19DCF41E-F79F-A394-9E01-9FC400B219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7127" y="2896138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396C566-F6EF-07A2-43E2-31804C1D3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8901" y="315472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3EEFF665-FCBA-761D-7964-FB215BAA6C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40976" y="314478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448A873C-FB45-C9A7-22DB-421371A93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4307" y="3351489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AEC6385A-A4C8-AE90-F30D-5D32E2DE6D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6382" y="3341551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540FD143-0445-841A-D92F-5AD77F874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8988" y="3580718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45B78D88-B9E6-D136-C045-26C825DB3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1063" y="3570780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9B7A1B20-7E20-3C21-0941-C973877F14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3476" y="3804697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B8A4FAC-2023-3669-FC0E-87CF29E2A9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5551" y="3794759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22269C78-56CA-7CFA-D789-6CF8F322A7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9113" y="4026604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93147D0E-8EAE-8641-417A-5330FAB0EE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1188" y="4016666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6C024023-C910-3925-1D36-D970BC88F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962" y="4275248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FF02399B-7DD0-8877-086E-8268721947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5037" y="4265310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67F55E62-E347-F026-3F68-A14F09028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8368" y="4472017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5966B244-0648-D530-FE29-7D9CFE112F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443" y="4462079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DF8F6704-6647-1D95-CFF1-4519A9F37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9540" y="468024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BE6CFF3F-AD8F-F6AB-D159-34E6D4E0AC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1615" y="467030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1899C0D2-8985-6669-E88C-4B3B40740D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4028" y="4904219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D931B276-7FB9-C365-A408-FC56DE2E60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6103" y="4894281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C85385E3-1568-0E47-D3D3-1FCD4F56F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2828" y="2463761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1F2117FA-1F30-7B0D-C5EE-14E63E03AC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4903" y="2453823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C1002688-2CB8-DFF7-3CC3-3B2E24B3A9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7316" y="268774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6568A594-7147-8B67-A5E9-8E49CE7E7C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9391" y="267780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A0DE212-3803-17B1-B533-3AD8B16D6C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2953" y="2909647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9A5D8E5C-34D2-98BD-98C2-8365E164FC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5028" y="2899709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EFCADDD-FDD4-1865-E489-D11399D7B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6802" y="3158291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C786C08E-F329-170B-1F44-5A7A37D330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8877" y="3148353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A3721BD2-27C8-11FA-49BD-2870F93840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2208" y="335506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50F9A55E-4561-A977-58D9-D381049BF2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4283" y="334512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92DDF785-B3F1-9383-F3B9-23CC449F0C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6889" y="3584289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D92A7504-BD86-95FC-72CD-0F0855A89E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8964" y="3574351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254916F9-1358-F55F-4D68-D922BECC7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377" y="3808268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218B0BFC-08A8-D5B7-198B-47125ACA92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3452" y="3798330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9E1D5BB-9B8C-A3B8-B7E7-B760C0A0E2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014" y="4030175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9A518C8-76E0-79C5-AA32-EC81B43F22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9089" y="4020237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A91DFB98-0B76-CBB8-9A99-653B02790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0863" y="4278819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E4E6CD19-48AC-3AA7-E163-AE3718FBD8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2938" y="4268881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E96A6BB5-07AA-9D9B-236D-6DE50911B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6269" y="4475588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0BB76BC6-3CC7-96A6-2408-BA8C948B0D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8344" y="4465650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1A4D4897-F8F9-DF06-8B94-C29C833C5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441" y="4683811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D44B5BFF-5604-295C-BED5-4C8556A1B4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9516" y="4673873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7B99B9E4-A2EB-F491-E18D-E974501C8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929" y="4907790"/>
                <a:ext cx="340049" cy="20251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8EC42A1B-51BA-C0B8-D042-EB26533B7B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34004" y="4897852"/>
                <a:ext cx="327900" cy="212448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9B02AFDD-E0AA-9D89-30E6-78320F20297C}"/>
                  </a:ext>
                </a:extLst>
              </p:cNvPr>
              <p:cNvCxnSpPr>
                <a:cxnSpLocks/>
                <a:stCxn id="138" idx="3"/>
              </p:cNvCxnSpPr>
              <p:nvPr/>
            </p:nvCxnSpPr>
            <p:spPr>
              <a:xfrm>
                <a:off x="5021812" y="2259873"/>
                <a:ext cx="617405" cy="13949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D88DC3F1-36B4-935D-7BFF-910D4A283122}"/>
                  </a:ext>
                </a:extLst>
              </p:cNvPr>
              <p:cNvCxnSpPr>
                <a:cxnSpLocks/>
                <a:stCxn id="138" idx="3"/>
              </p:cNvCxnSpPr>
              <p:nvPr/>
            </p:nvCxnSpPr>
            <p:spPr>
              <a:xfrm>
                <a:off x="5021812" y="2259873"/>
                <a:ext cx="1427295" cy="1461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>
                <a:extLst>
                  <a:ext uri="{FF2B5EF4-FFF2-40B4-BE49-F238E27FC236}">
                    <a16:creationId xmlns:a16="http://schemas.microsoft.com/office/drawing/2014/main" id="{81E6B34A-2C15-B7D2-E0FF-35DE24C855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1604" y="5222301"/>
                <a:ext cx="1441697" cy="1410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315B9D9A-DF42-67DE-DA3F-EF284CD9BE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9692" y="5255193"/>
                <a:ext cx="2456550" cy="14937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624BAD9A-C0FD-F38C-C2A0-4633403B09F6}"/>
                  </a:ext>
                </a:extLst>
              </p:cNvPr>
              <p:cNvSpPr txBox="1"/>
              <p:nvPr/>
            </p:nvSpPr>
            <p:spPr>
              <a:xfrm>
                <a:off x="5308164" y="1548113"/>
                <a:ext cx="1013809" cy="4743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chemeClr val="bg2"/>
                  </a:buClr>
                </a:pPr>
                <a:r>
                  <a:rPr lang="en-US" sz="600" b="1"/>
                  <a:t>GPU1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D622E8F-8AFD-3094-7D25-7F46B133E0F4}"/>
                  </a:ext>
                </a:extLst>
              </p:cNvPr>
              <p:cNvSpPr txBox="1"/>
              <p:nvPr/>
            </p:nvSpPr>
            <p:spPr>
              <a:xfrm>
                <a:off x="4430184" y="1556975"/>
                <a:ext cx="894390" cy="4743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chemeClr val="bg2"/>
                  </a:buClr>
                </a:pPr>
                <a:r>
                  <a:rPr lang="en-US" sz="600" b="1"/>
                  <a:t>CPU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002D2B81-1DE5-11B6-2EA6-CB3F2801AE48}"/>
                  </a:ext>
                </a:extLst>
              </p:cNvPr>
              <p:cNvSpPr txBox="1"/>
              <p:nvPr/>
            </p:nvSpPr>
            <p:spPr>
              <a:xfrm>
                <a:off x="6115520" y="1548113"/>
                <a:ext cx="1013809" cy="4743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chemeClr val="bg2"/>
                  </a:buClr>
                </a:pPr>
                <a:r>
                  <a:rPr lang="en-US" sz="600" b="1"/>
                  <a:t>GPU2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8AF0915-46D2-9E00-7989-E2D34260A04F}"/>
                  </a:ext>
                </a:extLst>
              </p:cNvPr>
              <p:cNvSpPr txBox="1"/>
              <p:nvPr/>
            </p:nvSpPr>
            <p:spPr>
              <a:xfrm>
                <a:off x="6950092" y="1548113"/>
                <a:ext cx="1013809" cy="4743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chemeClr val="bg2"/>
                  </a:buClr>
                </a:pPr>
                <a:r>
                  <a:rPr lang="en-US" sz="600" b="1"/>
                  <a:t>GPU3</a:t>
                </a:r>
              </a:p>
            </p:txBody>
          </p:sp>
        </p:grp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38E57AB-DBBF-1064-7D65-1B39918C9BE5}"/>
                </a:ext>
              </a:extLst>
            </p:cNvPr>
            <p:cNvSpPr/>
            <p:nvPr/>
          </p:nvSpPr>
          <p:spPr>
            <a:xfrm>
              <a:off x="9080707" y="2356864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rgbClr val="0070C0"/>
                </a:gs>
                <a:gs pos="52000">
                  <a:srgbClr val="00B0F0"/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ED4CF93-B71E-E82D-2D19-A59F389B18E6}"/>
                </a:ext>
              </a:extLst>
            </p:cNvPr>
            <p:cNvSpPr/>
            <p:nvPr/>
          </p:nvSpPr>
          <p:spPr>
            <a:xfrm>
              <a:off x="9080707" y="2746907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2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A2DF7A1-DE16-414F-8221-F2878F80DC4A}"/>
                </a:ext>
              </a:extLst>
            </p:cNvPr>
            <p:cNvSpPr/>
            <p:nvPr/>
          </p:nvSpPr>
          <p:spPr>
            <a:xfrm>
              <a:off x="9874457" y="2356864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2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C02DD37-EAAB-6023-7C6A-F9A43B9747C3}"/>
                </a:ext>
              </a:extLst>
            </p:cNvPr>
            <p:cNvSpPr/>
            <p:nvPr/>
          </p:nvSpPr>
          <p:spPr>
            <a:xfrm>
              <a:off x="9874457" y="2746907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2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B44BB80-10B0-F787-A2E2-D27F9FE9BE73}"/>
                </a:ext>
              </a:extLst>
            </p:cNvPr>
            <p:cNvSpPr/>
            <p:nvPr/>
          </p:nvSpPr>
          <p:spPr>
            <a:xfrm>
              <a:off x="10658682" y="2356864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rgbClr val="00B050"/>
                </a:gs>
                <a:gs pos="52000">
                  <a:srgbClr val="92D050"/>
                </a:gs>
                <a:gs pos="100000">
                  <a:srgbClr val="7BD88F"/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30326B0-8316-7988-6958-329C3A011475}"/>
                </a:ext>
              </a:extLst>
            </p:cNvPr>
            <p:cNvSpPr/>
            <p:nvPr/>
          </p:nvSpPr>
          <p:spPr>
            <a:xfrm>
              <a:off x="10658682" y="2746907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2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85CFD38-D2DF-D5B4-A4E2-983B552ABCDE}"/>
                </a:ext>
              </a:extLst>
            </p:cNvPr>
            <p:cNvSpPr/>
            <p:nvPr/>
          </p:nvSpPr>
          <p:spPr>
            <a:xfrm>
              <a:off x="9874457" y="2746907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rgbClr val="00B050"/>
                </a:gs>
                <a:gs pos="52000">
                  <a:srgbClr val="92D050"/>
                </a:gs>
                <a:gs pos="100000">
                  <a:srgbClr val="7BD88F"/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AA7EA12-8DEB-C1D3-4FDC-A4412D564E65}"/>
                </a:ext>
              </a:extLst>
            </p:cNvPr>
            <p:cNvSpPr/>
            <p:nvPr/>
          </p:nvSpPr>
          <p:spPr>
            <a:xfrm>
              <a:off x="10658682" y="2746907"/>
              <a:ext cx="282102" cy="273375"/>
            </a:xfrm>
            <a:prstGeom prst="rect">
              <a:avLst/>
            </a:prstGeom>
            <a:gradFill flip="none" rotWithShape="1">
              <a:gsLst>
                <a:gs pos="0">
                  <a:srgbClr val="0070C0"/>
                </a:gs>
                <a:gs pos="52000">
                  <a:srgbClr val="00B0F0"/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solidFill>
                  <a:srgbClr val="FF0000"/>
                </a:solidFill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1148E83-1895-0DC7-BC8D-88E21D010A01}"/>
              </a:ext>
            </a:extLst>
          </p:cNvPr>
          <p:cNvGrpSpPr/>
          <p:nvPr/>
        </p:nvGrpSpPr>
        <p:grpSpPr>
          <a:xfrm>
            <a:off x="8939088" y="3429000"/>
            <a:ext cx="1108192" cy="1730212"/>
            <a:chOff x="784560" y="1150048"/>
            <a:chExt cx="3536103" cy="5520907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549F4D1-859F-6E78-DF27-52402F7D2D2A}"/>
                </a:ext>
              </a:extLst>
            </p:cNvPr>
            <p:cNvGrpSpPr/>
            <p:nvPr/>
          </p:nvGrpSpPr>
          <p:grpSpPr>
            <a:xfrm>
              <a:off x="784560" y="1150048"/>
              <a:ext cx="3536103" cy="5520907"/>
              <a:chOff x="1200994" y="1124647"/>
              <a:chExt cx="4380653" cy="6839503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256812C1-BA34-3560-E12B-211BF67CB129}"/>
                  </a:ext>
                </a:extLst>
              </p:cNvPr>
              <p:cNvGrpSpPr/>
              <p:nvPr/>
            </p:nvGrpSpPr>
            <p:grpSpPr>
              <a:xfrm>
                <a:off x="1200994" y="1124647"/>
                <a:ext cx="4380652" cy="3314825"/>
                <a:chOff x="210402" y="1115122"/>
                <a:chExt cx="7144802" cy="5406454"/>
              </a:xfrm>
            </p:grpSpPr>
            <p:sp>
              <p:nvSpPr>
                <p:cNvPr id="237" name="Rectangle 236">
                  <a:extLst>
                    <a:ext uri="{FF2B5EF4-FFF2-40B4-BE49-F238E27FC236}">
                      <a16:creationId xmlns:a16="http://schemas.microsoft.com/office/drawing/2014/main" id="{4734CEE9-5D7C-FAC8-9BBC-A9A4D15E6C43}"/>
                    </a:ext>
                  </a:extLst>
                </p:cNvPr>
                <p:cNvSpPr/>
                <p:nvPr/>
              </p:nvSpPr>
              <p:spPr>
                <a:xfrm>
                  <a:off x="1069848" y="1115124"/>
                  <a:ext cx="2654343" cy="5406452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endParaRPr lang="en-US" sz="1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8" name="Rectangle 237">
                  <a:extLst>
                    <a:ext uri="{FF2B5EF4-FFF2-40B4-BE49-F238E27FC236}">
                      <a16:creationId xmlns:a16="http://schemas.microsoft.com/office/drawing/2014/main" id="{0A889B41-FEE8-54D1-AC6F-9F0748D82D6C}"/>
                    </a:ext>
                  </a:extLst>
                </p:cNvPr>
                <p:cNvSpPr/>
                <p:nvPr/>
              </p:nvSpPr>
              <p:spPr>
                <a:xfrm>
                  <a:off x="1703091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A152BECF-6917-AE53-6516-104FCE633F9B}"/>
                    </a:ext>
                  </a:extLst>
                </p:cNvPr>
                <p:cNvSpPr/>
                <p:nvPr/>
              </p:nvSpPr>
              <p:spPr>
                <a:xfrm>
                  <a:off x="1703091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240" name="Connector: Elbow 239">
                  <a:extLst>
                    <a:ext uri="{FF2B5EF4-FFF2-40B4-BE49-F238E27FC236}">
                      <a16:creationId xmlns:a16="http://schemas.microsoft.com/office/drawing/2014/main" id="{82CE11CF-81DE-04F0-7F33-C55C5D122E90}"/>
                    </a:ext>
                  </a:extLst>
                </p:cNvPr>
                <p:cNvCxnSpPr>
                  <a:cxnSpLocks/>
                  <a:stCxn id="254" idx="1"/>
                  <a:endCxn id="260" idx="0"/>
                </p:cNvCxnSpPr>
                <p:nvPr/>
              </p:nvCxnSpPr>
              <p:spPr>
                <a:xfrm rot="10800000">
                  <a:off x="1362657" y="1581912"/>
                  <a:ext cx="340434" cy="1922159"/>
                </a:xfrm>
                <a:prstGeom prst="bentConnector4">
                  <a:avLst>
                    <a:gd name="adj1" fmla="val 25728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Connector: Elbow 240">
                  <a:extLst>
                    <a:ext uri="{FF2B5EF4-FFF2-40B4-BE49-F238E27FC236}">
                      <a16:creationId xmlns:a16="http://schemas.microsoft.com/office/drawing/2014/main" id="{DDE898E5-945F-5B9D-85EE-153C761C9DEB}"/>
                    </a:ext>
                  </a:extLst>
                </p:cNvPr>
                <p:cNvCxnSpPr>
                  <a:cxnSpLocks/>
                  <a:stCxn id="255" idx="1"/>
                  <a:endCxn id="260" idx="2"/>
                </p:cNvCxnSpPr>
                <p:nvPr/>
              </p:nvCxnSpPr>
              <p:spPr>
                <a:xfrm rot="10800000" flipV="1">
                  <a:off x="1362657" y="4075244"/>
                  <a:ext cx="340434" cy="1932364"/>
                </a:xfrm>
                <a:prstGeom prst="bentConnector4">
                  <a:avLst>
                    <a:gd name="adj1" fmla="val 25728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Connector: Elbow 241">
                  <a:extLst>
                    <a:ext uri="{FF2B5EF4-FFF2-40B4-BE49-F238E27FC236}">
                      <a16:creationId xmlns:a16="http://schemas.microsoft.com/office/drawing/2014/main" id="{8CCDFF1C-9AD4-EBA4-B950-4DFA9BB0FFBF}"/>
                    </a:ext>
                  </a:extLst>
                </p:cNvPr>
                <p:cNvCxnSpPr>
                  <a:cxnSpLocks/>
                  <a:endCxn id="244" idx="2"/>
                </p:cNvCxnSpPr>
                <p:nvPr/>
              </p:nvCxnSpPr>
              <p:spPr>
                <a:xfrm rot="10800000">
                  <a:off x="611150" y="3101511"/>
                  <a:ext cx="586246" cy="327488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Connector: Elbow 242">
                  <a:extLst>
                    <a:ext uri="{FF2B5EF4-FFF2-40B4-BE49-F238E27FC236}">
                      <a16:creationId xmlns:a16="http://schemas.microsoft.com/office/drawing/2014/main" id="{83BABF77-5F4C-27C9-1D31-8050872431B2}"/>
                    </a:ext>
                  </a:extLst>
                </p:cNvPr>
                <p:cNvCxnSpPr>
                  <a:cxnSpLocks/>
                  <a:endCxn id="245" idx="0"/>
                </p:cNvCxnSpPr>
                <p:nvPr/>
              </p:nvCxnSpPr>
              <p:spPr>
                <a:xfrm rot="10800000" flipV="1">
                  <a:off x="611150" y="4140355"/>
                  <a:ext cx="583661" cy="332409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EA922CFB-5B07-0AA8-1ABD-46471554DEBA}"/>
                    </a:ext>
                  </a:extLst>
                </p:cNvPr>
                <p:cNvSpPr/>
                <p:nvPr/>
              </p:nvSpPr>
              <p:spPr>
                <a:xfrm>
                  <a:off x="210403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1A147590-F053-6237-3187-B7A9B5CA4893}"/>
                    </a:ext>
                  </a:extLst>
                </p:cNvPr>
                <p:cNvSpPr/>
                <p:nvPr/>
              </p:nvSpPr>
              <p:spPr>
                <a:xfrm>
                  <a:off x="210402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C8A5E22-3D02-42C5-0BE9-6742EDBC61EF}"/>
                    </a:ext>
                  </a:extLst>
                </p:cNvPr>
                <p:cNvSpPr/>
                <p:nvPr/>
              </p:nvSpPr>
              <p:spPr>
                <a:xfrm>
                  <a:off x="3831725" y="1115122"/>
                  <a:ext cx="2654343" cy="5406450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endParaRPr lang="en-US" sz="1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048301CB-183D-6CB5-8FFF-E510D3373C35}"/>
                    </a:ext>
                  </a:extLst>
                </p:cNvPr>
                <p:cNvSpPr/>
                <p:nvPr/>
              </p:nvSpPr>
              <p:spPr>
                <a:xfrm>
                  <a:off x="3953669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BFDDC697-58FB-1563-24DB-161D2C79106C}"/>
                    </a:ext>
                  </a:extLst>
                </p:cNvPr>
                <p:cNvSpPr/>
                <p:nvPr/>
              </p:nvSpPr>
              <p:spPr>
                <a:xfrm>
                  <a:off x="3953669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249" name="Connector: Elbow 248">
                  <a:extLst>
                    <a:ext uri="{FF2B5EF4-FFF2-40B4-BE49-F238E27FC236}">
                      <a16:creationId xmlns:a16="http://schemas.microsoft.com/office/drawing/2014/main" id="{7954EC8A-B759-8D69-3A36-00987FF672C0}"/>
                    </a:ext>
                  </a:extLst>
                </p:cNvPr>
                <p:cNvCxnSpPr>
                  <a:cxnSpLocks/>
                  <a:stCxn id="256" idx="3"/>
                  <a:endCxn id="259" idx="0"/>
                </p:cNvCxnSpPr>
                <p:nvPr/>
              </p:nvCxnSpPr>
              <p:spPr>
                <a:xfrm flipV="1">
                  <a:off x="5836896" y="1581911"/>
                  <a:ext cx="387587" cy="1922159"/>
                </a:xfrm>
                <a:prstGeom prst="bentConnector4">
                  <a:avLst>
                    <a:gd name="adj1" fmla="val 28681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Connector: Elbow 249">
                  <a:extLst>
                    <a:ext uri="{FF2B5EF4-FFF2-40B4-BE49-F238E27FC236}">
                      <a16:creationId xmlns:a16="http://schemas.microsoft.com/office/drawing/2014/main" id="{5209EA7D-BE29-CE7F-39EB-76BA14C1D071}"/>
                    </a:ext>
                  </a:extLst>
                </p:cNvPr>
                <p:cNvCxnSpPr>
                  <a:cxnSpLocks/>
                  <a:stCxn id="257" idx="3"/>
                  <a:endCxn id="259" idx="2"/>
                </p:cNvCxnSpPr>
                <p:nvPr/>
              </p:nvCxnSpPr>
              <p:spPr>
                <a:xfrm>
                  <a:off x="5836896" y="4075244"/>
                  <a:ext cx="387587" cy="1932364"/>
                </a:xfrm>
                <a:prstGeom prst="bentConnector4">
                  <a:avLst>
                    <a:gd name="adj1" fmla="val 28681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Connector: Elbow 250">
                  <a:extLst>
                    <a:ext uri="{FF2B5EF4-FFF2-40B4-BE49-F238E27FC236}">
                      <a16:creationId xmlns:a16="http://schemas.microsoft.com/office/drawing/2014/main" id="{884F4D10-C796-A8C0-5B4D-43CC56DD10A4}"/>
                    </a:ext>
                  </a:extLst>
                </p:cNvPr>
                <p:cNvCxnSpPr>
                  <a:cxnSpLocks/>
                  <a:endCxn id="253" idx="0"/>
                </p:cNvCxnSpPr>
                <p:nvPr/>
              </p:nvCxnSpPr>
              <p:spPr>
                <a:xfrm>
                  <a:off x="6389741" y="4140355"/>
                  <a:ext cx="564715" cy="332410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18E0D83B-BF5A-63BA-9731-FFF37E1B9C4B}"/>
                    </a:ext>
                  </a:extLst>
                </p:cNvPr>
                <p:cNvSpPr/>
                <p:nvPr/>
              </p:nvSpPr>
              <p:spPr>
                <a:xfrm>
                  <a:off x="6553710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AAFDEC07-1030-6FB0-BA92-0C0E32B5E65F}"/>
                    </a:ext>
                  </a:extLst>
                </p:cNvPr>
                <p:cNvSpPr/>
                <p:nvPr/>
              </p:nvSpPr>
              <p:spPr>
                <a:xfrm>
                  <a:off x="6553709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F592F215-DBBC-721D-BCB8-6787D3606FD4}"/>
                    </a:ext>
                  </a:extLst>
                </p:cNvPr>
                <p:cNvSpPr/>
                <p:nvPr/>
              </p:nvSpPr>
              <p:spPr>
                <a:xfrm>
                  <a:off x="1703091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69B8EEBC-3445-3106-3970-1387218B6F7B}"/>
                    </a:ext>
                  </a:extLst>
                </p:cNvPr>
                <p:cNvSpPr/>
                <p:nvPr/>
              </p:nvSpPr>
              <p:spPr>
                <a:xfrm>
                  <a:off x="1703091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48A23D7B-B132-2F28-5D77-81B57FF3ED3D}"/>
                    </a:ext>
                  </a:extLst>
                </p:cNvPr>
                <p:cNvSpPr/>
                <p:nvPr/>
              </p:nvSpPr>
              <p:spPr>
                <a:xfrm>
                  <a:off x="3953669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C4BB9600-79DD-952A-A53F-9574511E2C29}"/>
                    </a:ext>
                  </a:extLst>
                </p:cNvPr>
                <p:cNvSpPr/>
                <p:nvPr/>
              </p:nvSpPr>
              <p:spPr>
                <a:xfrm>
                  <a:off x="3953669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cxnSp>
              <p:nvCxnSpPr>
                <p:cNvPr id="258" name="Connector: Elbow 257">
                  <a:extLst>
                    <a:ext uri="{FF2B5EF4-FFF2-40B4-BE49-F238E27FC236}">
                      <a16:creationId xmlns:a16="http://schemas.microsoft.com/office/drawing/2014/main" id="{E88B0481-DD68-2076-0A5F-3CC4509257A9}"/>
                    </a:ext>
                  </a:extLst>
                </p:cNvPr>
                <p:cNvCxnSpPr>
                  <a:cxnSpLocks/>
                  <a:endCxn id="252" idx="2"/>
                </p:cNvCxnSpPr>
                <p:nvPr/>
              </p:nvCxnSpPr>
              <p:spPr>
                <a:xfrm flipV="1">
                  <a:off x="6389741" y="3101512"/>
                  <a:ext cx="564717" cy="327486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F8EB03E9-9727-3F97-3751-32D594409705}"/>
                    </a:ext>
                  </a:extLst>
                </p:cNvPr>
                <p:cNvSpPr/>
                <p:nvPr/>
              </p:nvSpPr>
              <p:spPr>
                <a:xfrm>
                  <a:off x="6059222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88E6D47C-51BD-DBB2-E857-BED1851F660B}"/>
                    </a:ext>
                  </a:extLst>
                </p:cNvPr>
                <p:cNvSpPr/>
                <p:nvPr/>
              </p:nvSpPr>
              <p:spPr>
                <a:xfrm>
                  <a:off x="1197396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</p:grp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E06985ED-BB88-9733-8B82-721D4F4B641B}"/>
                  </a:ext>
                </a:extLst>
              </p:cNvPr>
              <p:cNvGrpSpPr/>
              <p:nvPr/>
            </p:nvGrpSpPr>
            <p:grpSpPr>
              <a:xfrm>
                <a:off x="1200994" y="4490915"/>
                <a:ext cx="4380653" cy="3473235"/>
                <a:chOff x="210402" y="1115122"/>
                <a:chExt cx="7144802" cy="5664819"/>
              </a:xfrm>
            </p:grpSpPr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F551C8C5-9E1D-EAB6-91FC-ED3E15865795}"/>
                    </a:ext>
                  </a:extLst>
                </p:cNvPr>
                <p:cNvSpPr/>
                <p:nvPr/>
              </p:nvSpPr>
              <p:spPr>
                <a:xfrm>
                  <a:off x="1069848" y="1115122"/>
                  <a:ext cx="2654344" cy="5664819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00" b="1">
                      <a:solidFill>
                        <a:schemeClr val="bg1"/>
                      </a:solidFill>
                    </a:rPr>
                    <a:t>AID</a:t>
                  </a: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D187D4E4-CF9D-74B4-0A58-65792E83315E}"/>
                    </a:ext>
                  </a:extLst>
                </p:cNvPr>
                <p:cNvSpPr/>
                <p:nvPr/>
              </p:nvSpPr>
              <p:spPr>
                <a:xfrm>
                  <a:off x="1703091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8F22884E-C69C-7581-1668-9241617BC4B0}"/>
                    </a:ext>
                  </a:extLst>
                </p:cNvPr>
                <p:cNvSpPr/>
                <p:nvPr/>
              </p:nvSpPr>
              <p:spPr>
                <a:xfrm>
                  <a:off x="1703091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216" name="Connector: Elbow 215">
                  <a:extLst>
                    <a:ext uri="{FF2B5EF4-FFF2-40B4-BE49-F238E27FC236}">
                      <a16:creationId xmlns:a16="http://schemas.microsoft.com/office/drawing/2014/main" id="{70AA20EA-0AD1-911C-6623-676382322909}"/>
                    </a:ext>
                  </a:extLst>
                </p:cNvPr>
                <p:cNvCxnSpPr>
                  <a:cxnSpLocks/>
                  <a:stCxn id="223" idx="1"/>
                  <a:endCxn id="220" idx="0"/>
                </p:cNvCxnSpPr>
                <p:nvPr/>
              </p:nvCxnSpPr>
              <p:spPr>
                <a:xfrm rot="10800000">
                  <a:off x="1362657" y="1581912"/>
                  <a:ext cx="340434" cy="1922159"/>
                </a:xfrm>
                <a:prstGeom prst="bentConnector4">
                  <a:avLst>
                    <a:gd name="adj1" fmla="val 25728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Connector: Elbow 216">
                  <a:extLst>
                    <a:ext uri="{FF2B5EF4-FFF2-40B4-BE49-F238E27FC236}">
                      <a16:creationId xmlns:a16="http://schemas.microsoft.com/office/drawing/2014/main" id="{69DA7D8D-4536-AAC5-9E17-8882958A2623}"/>
                    </a:ext>
                  </a:extLst>
                </p:cNvPr>
                <p:cNvCxnSpPr>
                  <a:cxnSpLocks/>
                  <a:stCxn id="224" idx="1"/>
                  <a:endCxn id="220" idx="2"/>
                </p:cNvCxnSpPr>
                <p:nvPr/>
              </p:nvCxnSpPr>
              <p:spPr>
                <a:xfrm rot="10800000" flipV="1">
                  <a:off x="1362657" y="4075244"/>
                  <a:ext cx="340434" cy="1932364"/>
                </a:xfrm>
                <a:prstGeom prst="bentConnector4">
                  <a:avLst>
                    <a:gd name="adj1" fmla="val 25728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Connector: Elbow 217">
                  <a:extLst>
                    <a:ext uri="{FF2B5EF4-FFF2-40B4-BE49-F238E27FC236}">
                      <a16:creationId xmlns:a16="http://schemas.microsoft.com/office/drawing/2014/main" id="{9B5820A4-C79F-BA49-F79E-0E598730C66D}"/>
                    </a:ext>
                  </a:extLst>
                </p:cNvPr>
                <p:cNvCxnSpPr>
                  <a:cxnSpLocks/>
                  <a:endCxn id="221" idx="2"/>
                </p:cNvCxnSpPr>
                <p:nvPr/>
              </p:nvCxnSpPr>
              <p:spPr>
                <a:xfrm rot="10800000">
                  <a:off x="611150" y="3101511"/>
                  <a:ext cx="586246" cy="327488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Connector: Elbow 218">
                  <a:extLst>
                    <a:ext uri="{FF2B5EF4-FFF2-40B4-BE49-F238E27FC236}">
                      <a16:creationId xmlns:a16="http://schemas.microsoft.com/office/drawing/2014/main" id="{C271B767-F2D2-0E5D-AA91-183CA7A4E175}"/>
                    </a:ext>
                  </a:extLst>
                </p:cNvPr>
                <p:cNvCxnSpPr>
                  <a:cxnSpLocks/>
                  <a:endCxn id="222" idx="0"/>
                </p:cNvCxnSpPr>
                <p:nvPr/>
              </p:nvCxnSpPr>
              <p:spPr>
                <a:xfrm rot="10800000" flipV="1">
                  <a:off x="611150" y="4140355"/>
                  <a:ext cx="583661" cy="332409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842D42DA-B59C-D084-DE3E-106058673CF4}"/>
                    </a:ext>
                  </a:extLst>
                </p:cNvPr>
                <p:cNvSpPr/>
                <p:nvPr/>
              </p:nvSpPr>
              <p:spPr>
                <a:xfrm>
                  <a:off x="1197396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7138FCE6-4F4D-FAA3-E70E-9A1B2061CBD0}"/>
                    </a:ext>
                  </a:extLst>
                </p:cNvPr>
                <p:cNvSpPr/>
                <p:nvPr/>
              </p:nvSpPr>
              <p:spPr>
                <a:xfrm>
                  <a:off x="210403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A1CB4E93-DF5F-BAC1-7A51-C727B355EB67}"/>
                    </a:ext>
                  </a:extLst>
                </p:cNvPr>
                <p:cNvSpPr/>
                <p:nvPr/>
              </p:nvSpPr>
              <p:spPr>
                <a:xfrm>
                  <a:off x="210402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96CFA263-0FB4-7BE6-2DED-7970633C9734}"/>
                    </a:ext>
                  </a:extLst>
                </p:cNvPr>
                <p:cNvSpPr/>
                <p:nvPr/>
              </p:nvSpPr>
              <p:spPr>
                <a:xfrm>
                  <a:off x="1703091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CC5C191C-24DB-0ECA-27E8-2911B98D90A2}"/>
                    </a:ext>
                  </a:extLst>
                </p:cNvPr>
                <p:cNvSpPr/>
                <p:nvPr/>
              </p:nvSpPr>
              <p:spPr>
                <a:xfrm>
                  <a:off x="1703091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22154FCA-D68A-E10D-1723-915D8E199DF0}"/>
                    </a:ext>
                  </a:extLst>
                </p:cNvPr>
                <p:cNvSpPr/>
                <p:nvPr/>
              </p:nvSpPr>
              <p:spPr>
                <a:xfrm>
                  <a:off x="3831724" y="1115122"/>
                  <a:ext cx="2654344" cy="5664819"/>
                </a:xfrm>
                <a:prstGeom prst="rect">
                  <a:avLst/>
                </a:prstGeom>
                <a:solidFill>
                  <a:srgbClr val="DEB7FF"/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00" b="1">
                      <a:solidFill>
                        <a:schemeClr val="bg1"/>
                      </a:solidFill>
                    </a:rPr>
                    <a:t>AID</a:t>
                  </a: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AE6AB571-355A-7570-7477-2CC96DD50477}"/>
                    </a:ext>
                  </a:extLst>
                </p:cNvPr>
                <p:cNvSpPr/>
                <p:nvPr/>
              </p:nvSpPr>
              <p:spPr>
                <a:xfrm>
                  <a:off x="3953669" y="1281617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08F5B34C-EE7E-9225-FC6C-0E88E7D4E43F}"/>
                    </a:ext>
                  </a:extLst>
                </p:cNvPr>
                <p:cNvSpPr/>
                <p:nvPr/>
              </p:nvSpPr>
              <p:spPr>
                <a:xfrm>
                  <a:off x="3953669" y="4313482"/>
                  <a:ext cx="1883227" cy="198421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>
                      <a:solidFill>
                        <a:schemeClr val="bg1"/>
                      </a:solidFill>
                    </a:rPr>
                    <a:t>XCD</a:t>
                  </a:r>
                </a:p>
              </p:txBody>
            </p:sp>
            <p:cxnSp>
              <p:nvCxnSpPr>
                <p:cNvPr id="228" name="Connector: Elbow 227">
                  <a:extLst>
                    <a:ext uri="{FF2B5EF4-FFF2-40B4-BE49-F238E27FC236}">
                      <a16:creationId xmlns:a16="http://schemas.microsoft.com/office/drawing/2014/main" id="{C0EAD87A-F6B9-488D-0087-E173326202DD}"/>
                    </a:ext>
                  </a:extLst>
                </p:cNvPr>
                <p:cNvCxnSpPr>
                  <a:cxnSpLocks/>
                  <a:stCxn id="234" idx="3"/>
                  <a:endCxn id="236" idx="0"/>
                </p:cNvCxnSpPr>
                <p:nvPr/>
              </p:nvCxnSpPr>
              <p:spPr>
                <a:xfrm flipV="1">
                  <a:off x="5836896" y="1581911"/>
                  <a:ext cx="387587" cy="1922159"/>
                </a:xfrm>
                <a:prstGeom prst="bentConnector4">
                  <a:avLst>
                    <a:gd name="adj1" fmla="val 28681"/>
                    <a:gd name="adj2" fmla="val 111893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Connector: Elbow 228">
                  <a:extLst>
                    <a:ext uri="{FF2B5EF4-FFF2-40B4-BE49-F238E27FC236}">
                      <a16:creationId xmlns:a16="http://schemas.microsoft.com/office/drawing/2014/main" id="{44C21066-31DE-1BA9-4EB1-C1B2DAAECEC3}"/>
                    </a:ext>
                  </a:extLst>
                </p:cNvPr>
                <p:cNvCxnSpPr>
                  <a:cxnSpLocks/>
                  <a:stCxn id="235" idx="3"/>
                  <a:endCxn id="236" idx="2"/>
                </p:cNvCxnSpPr>
                <p:nvPr/>
              </p:nvCxnSpPr>
              <p:spPr>
                <a:xfrm>
                  <a:off x="5836896" y="4075244"/>
                  <a:ext cx="387587" cy="1932364"/>
                </a:xfrm>
                <a:prstGeom prst="bentConnector4">
                  <a:avLst>
                    <a:gd name="adj1" fmla="val 28681"/>
                    <a:gd name="adj2" fmla="val 111830"/>
                  </a:avLst>
                </a:prstGeom>
                <a:ln w="28575">
                  <a:solidFill>
                    <a:schemeClr val="accent5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Connector: Elbow 229">
                  <a:extLst>
                    <a:ext uri="{FF2B5EF4-FFF2-40B4-BE49-F238E27FC236}">
                      <a16:creationId xmlns:a16="http://schemas.microsoft.com/office/drawing/2014/main" id="{D30111D0-840D-067B-5AD2-9335DA971DDD}"/>
                    </a:ext>
                  </a:extLst>
                </p:cNvPr>
                <p:cNvCxnSpPr>
                  <a:cxnSpLocks/>
                  <a:endCxn id="232" idx="2"/>
                </p:cNvCxnSpPr>
                <p:nvPr/>
              </p:nvCxnSpPr>
              <p:spPr>
                <a:xfrm flipV="1">
                  <a:off x="6389745" y="3101512"/>
                  <a:ext cx="564713" cy="327486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Connector: Elbow 230">
                  <a:extLst>
                    <a:ext uri="{FF2B5EF4-FFF2-40B4-BE49-F238E27FC236}">
                      <a16:creationId xmlns:a16="http://schemas.microsoft.com/office/drawing/2014/main" id="{D76BF1E7-AA57-1F59-617D-69A31048E14B}"/>
                    </a:ext>
                  </a:extLst>
                </p:cNvPr>
                <p:cNvCxnSpPr>
                  <a:cxnSpLocks/>
                  <a:endCxn id="233" idx="0"/>
                </p:cNvCxnSpPr>
                <p:nvPr/>
              </p:nvCxnSpPr>
              <p:spPr>
                <a:xfrm>
                  <a:off x="6389745" y="4194051"/>
                  <a:ext cx="564711" cy="278714"/>
                </a:xfrm>
                <a:prstGeom prst="bentConnector2">
                  <a:avLst/>
                </a:prstGeom>
                <a:ln w="57150">
                  <a:solidFill>
                    <a:srgbClr val="00B050"/>
                  </a:solidFill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B10B626F-BB4C-D3A7-BE07-D9D2C052CECF}"/>
                    </a:ext>
                  </a:extLst>
                </p:cNvPr>
                <p:cNvSpPr/>
                <p:nvPr/>
              </p:nvSpPr>
              <p:spPr>
                <a:xfrm>
                  <a:off x="6553710" y="1445935"/>
                  <a:ext cx="801494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1AB411F8-6A1A-AC6B-73F9-FD4C09EE2EA7}"/>
                    </a:ext>
                  </a:extLst>
                </p:cNvPr>
                <p:cNvSpPr/>
                <p:nvPr/>
              </p:nvSpPr>
              <p:spPr>
                <a:xfrm>
                  <a:off x="6553709" y="4472765"/>
                  <a:ext cx="801493" cy="1655576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300">
                      <a:solidFill>
                        <a:schemeClr val="bg1"/>
                      </a:solidFill>
                    </a:rPr>
                    <a:t>HBM</a:t>
                  </a:r>
                </a:p>
              </p:txBody>
            </p:sp>
            <p:sp>
              <p:nvSpPr>
                <p:cNvPr id="234" name="Rectangle 233">
                  <a:extLst>
                    <a:ext uri="{FF2B5EF4-FFF2-40B4-BE49-F238E27FC236}">
                      <a16:creationId xmlns:a16="http://schemas.microsoft.com/office/drawing/2014/main" id="{67C5E0E4-A0C2-4B24-9CF7-9573EC24F812}"/>
                    </a:ext>
                  </a:extLst>
                </p:cNvPr>
                <p:cNvSpPr/>
                <p:nvPr/>
              </p:nvSpPr>
              <p:spPr>
                <a:xfrm>
                  <a:off x="3953669" y="3265830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95A037F0-68C1-4A6E-910A-45334DEA3697}"/>
                    </a:ext>
                  </a:extLst>
                </p:cNvPr>
                <p:cNvSpPr/>
                <p:nvPr/>
              </p:nvSpPr>
              <p:spPr>
                <a:xfrm>
                  <a:off x="3953669" y="3837004"/>
                  <a:ext cx="1883227" cy="476479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L2</a:t>
                  </a:r>
                </a:p>
              </p:txBody>
            </p:sp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4BBB8CF6-B48B-1818-40A0-A38E8FBE0D2E}"/>
                    </a:ext>
                  </a:extLst>
                </p:cNvPr>
                <p:cNvSpPr/>
                <p:nvPr/>
              </p:nvSpPr>
              <p:spPr>
                <a:xfrm>
                  <a:off x="6059222" y="1581911"/>
                  <a:ext cx="330522" cy="4425697"/>
                </a:xfrm>
                <a:prstGeom prst="rect">
                  <a:avLst/>
                </a:prstGeom>
                <a:solidFill>
                  <a:srgbClr val="DDEE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00">
                      <a:solidFill>
                        <a:schemeClr val="bg1"/>
                      </a:solidFill>
                    </a:rPr>
                    <a:t>LLC</a:t>
                  </a:r>
                </a:p>
              </p:txBody>
            </p:sp>
          </p:grpSp>
        </p:grp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A13FEA5A-F459-E626-5B42-9E4FEFF85674}"/>
                </a:ext>
              </a:extLst>
            </p:cNvPr>
            <p:cNvSpPr/>
            <p:nvPr/>
          </p:nvSpPr>
          <p:spPr>
            <a:xfrm>
              <a:off x="2508593" y="1249203"/>
              <a:ext cx="92279" cy="246579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AD9A49D-78DC-E2EB-85EE-58686A6D732C}"/>
                </a:ext>
              </a:extLst>
            </p:cNvPr>
            <p:cNvSpPr/>
            <p:nvPr/>
          </p:nvSpPr>
          <p:spPr>
            <a:xfrm>
              <a:off x="2497637" y="3981541"/>
              <a:ext cx="107904" cy="246579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52EB111-CCB0-942C-EB59-4ED1AF2E1AD9}"/>
                </a:ext>
              </a:extLst>
            </p:cNvPr>
            <p:cNvSpPr/>
            <p:nvPr/>
          </p:nvSpPr>
          <p:spPr>
            <a:xfrm rot="16200000">
              <a:off x="1809620" y="3254764"/>
              <a:ext cx="107904" cy="11836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E0374D1-F4A4-4F2C-E23B-BA472E5DBB59}"/>
                </a:ext>
              </a:extLst>
            </p:cNvPr>
            <p:cNvSpPr/>
            <p:nvPr/>
          </p:nvSpPr>
          <p:spPr>
            <a:xfrm rot="16200000">
              <a:off x="3179717" y="3254764"/>
              <a:ext cx="107904" cy="11836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Interconnect</a:t>
              </a: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8C5AE160-D43D-704F-F1AD-21BB9D1F0C94}"/>
              </a:ext>
            </a:extLst>
          </p:cNvPr>
          <p:cNvGrpSpPr/>
          <p:nvPr/>
        </p:nvGrpSpPr>
        <p:grpSpPr>
          <a:xfrm>
            <a:off x="6854593" y="2703732"/>
            <a:ext cx="1335793" cy="1335463"/>
            <a:chOff x="3785836" y="1412162"/>
            <a:chExt cx="1560039" cy="1559654"/>
          </a:xfrm>
        </p:grpSpPr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D1EF8335-A5A6-7162-B1D1-2F7BEBD3FF61}"/>
                </a:ext>
              </a:extLst>
            </p:cNvPr>
            <p:cNvGrpSpPr/>
            <p:nvPr/>
          </p:nvGrpSpPr>
          <p:grpSpPr>
            <a:xfrm>
              <a:off x="4617830" y="2248375"/>
              <a:ext cx="723965" cy="723441"/>
              <a:chOff x="4154928" y="3685206"/>
              <a:chExt cx="917512" cy="916849"/>
            </a:xfrm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75A0F323-A096-AA2E-862F-6E53FF561230}"/>
                  </a:ext>
                </a:extLst>
              </p:cNvPr>
              <p:cNvGrpSpPr/>
              <p:nvPr/>
            </p:nvGrpSpPr>
            <p:grpSpPr>
              <a:xfrm>
                <a:off x="4154928" y="3685206"/>
                <a:ext cx="453585" cy="454205"/>
                <a:chOff x="4253059" y="3722156"/>
                <a:chExt cx="453585" cy="454205"/>
              </a:xfrm>
              <a:solidFill>
                <a:srgbClr val="00B050"/>
              </a:solidFill>
            </p:grpSpPr>
            <p:sp>
              <p:nvSpPr>
                <p:cNvPr id="320" name="Rectangle 319">
                  <a:extLst>
                    <a:ext uri="{FF2B5EF4-FFF2-40B4-BE49-F238E27FC236}">
                      <a16:creationId xmlns:a16="http://schemas.microsoft.com/office/drawing/2014/main" id="{955AA450-B55E-9CF5-BCF5-1B3465F02B26}"/>
                    </a:ext>
                  </a:extLst>
                </p:cNvPr>
                <p:cNvSpPr/>
                <p:nvPr/>
              </p:nvSpPr>
              <p:spPr bwMode="auto">
                <a:xfrm>
                  <a:off x="4253059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DA660BC4-6681-70F8-842E-C3DE1153B8CB}"/>
                    </a:ext>
                  </a:extLst>
                </p:cNvPr>
                <p:cNvSpPr/>
                <p:nvPr/>
              </p:nvSpPr>
              <p:spPr bwMode="auto">
                <a:xfrm>
                  <a:off x="4484240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6B432F39-FB9B-2081-D30A-D73718193491}"/>
                    </a:ext>
                  </a:extLst>
                </p:cNvPr>
                <p:cNvSpPr/>
                <p:nvPr/>
              </p:nvSpPr>
              <p:spPr bwMode="auto">
                <a:xfrm>
                  <a:off x="4253059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23" name="Rectangle 322">
                  <a:extLst>
                    <a:ext uri="{FF2B5EF4-FFF2-40B4-BE49-F238E27FC236}">
                      <a16:creationId xmlns:a16="http://schemas.microsoft.com/office/drawing/2014/main" id="{D5C89867-543C-E24A-27EA-612BE6A890A2}"/>
                    </a:ext>
                  </a:extLst>
                </p:cNvPr>
                <p:cNvSpPr/>
                <p:nvPr/>
              </p:nvSpPr>
              <p:spPr bwMode="auto">
                <a:xfrm>
                  <a:off x="4484240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D5EDF8E8-A897-05C5-C7E5-7A9D95BE6C48}"/>
                  </a:ext>
                </a:extLst>
              </p:cNvPr>
              <p:cNvGrpSpPr/>
              <p:nvPr/>
            </p:nvGrpSpPr>
            <p:grpSpPr>
              <a:xfrm>
                <a:off x="4618856" y="3685206"/>
                <a:ext cx="453584" cy="454205"/>
                <a:chOff x="4716987" y="3722156"/>
                <a:chExt cx="453584" cy="454205"/>
              </a:xfrm>
              <a:solidFill>
                <a:srgbClr val="FFFF00"/>
              </a:solidFill>
            </p:grpSpPr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5CF629B7-8C91-03B1-6381-5A67AE32C187}"/>
                    </a:ext>
                  </a:extLst>
                </p:cNvPr>
                <p:cNvSpPr/>
                <p:nvPr/>
              </p:nvSpPr>
              <p:spPr bwMode="auto">
                <a:xfrm>
                  <a:off x="4716987" y="3722156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7" name="Rectangle 316">
                  <a:extLst>
                    <a:ext uri="{FF2B5EF4-FFF2-40B4-BE49-F238E27FC236}">
                      <a16:creationId xmlns:a16="http://schemas.microsoft.com/office/drawing/2014/main" id="{C1FD0F79-C522-CD54-5BB0-AB65B056AA2F}"/>
                    </a:ext>
                  </a:extLst>
                </p:cNvPr>
                <p:cNvSpPr/>
                <p:nvPr/>
              </p:nvSpPr>
              <p:spPr bwMode="auto">
                <a:xfrm>
                  <a:off x="4948167" y="3722156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8" name="Rectangle 317">
                  <a:extLst>
                    <a:ext uri="{FF2B5EF4-FFF2-40B4-BE49-F238E27FC236}">
                      <a16:creationId xmlns:a16="http://schemas.microsoft.com/office/drawing/2014/main" id="{49A241A7-15EE-5B43-1016-48AC1BBC9E09}"/>
                    </a:ext>
                  </a:extLst>
                </p:cNvPr>
                <p:cNvSpPr/>
                <p:nvPr/>
              </p:nvSpPr>
              <p:spPr bwMode="auto">
                <a:xfrm>
                  <a:off x="4716987" y="3953957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9" name="Rectangle 318">
                  <a:extLst>
                    <a:ext uri="{FF2B5EF4-FFF2-40B4-BE49-F238E27FC236}">
                      <a16:creationId xmlns:a16="http://schemas.microsoft.com/office/drawing/2014/main" id="{10B1E82F-6F86-102A-4C35-C377D0C9BA93}"/>
                    </a:ext>
                  </a:extLst>
                </p:cNvPr>
                <p:cNvSpPr/>
                <p:nvPr/>
              </p:nvSpPr>
              <p:spPr bwMode="auto">
                <a:xfrm>
                  <a:off x="4948167" y="3953957"/>
                  <a:ext cx="222404" cy="222404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3012FC27-71B0-FB7C-D493-90AFC12C9AD0}"/>
                  </a:ext>
                </a:extLst>
              </p:cNvPr>
              <p:cNvGrpSpPr/>
              <p:nvPr/>
            </p:nvGrpSpPr>
            <p:grpSpPr>
              <a:xfrm>
                <a:off x="4154928" y="4147850"/>
                <a:ext cx="453585" cy="454205"/>
                <a:chOff x="4253059" y="4184800"/>
                <a:chExt cx="453585" cy="454205"/>
              </a:xfrm>
              <a:solidFill>
                <a:srgbClr val="7030A0"/>
              </a:solidFill>
            </p:grpSpPr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34E3D3D0-7755-AAB0-D0F4-0AF6465C46A5}"/>
                    </a:ext>
                  </a:extLst>
                </p:cNvPr>
                <p:cNvSpPr/>
                <p:nvPr/>
              </p:nvSpPr>
              <p:spPr bwMode="auto">
                <a:xfrm>
                  <a:off x="4253059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90E913C4-2B35-3913-103E-091EA012915C}"/>
                    </a:ext>
                  </a:extLst>
                </p:cNvPr>
                <p:cNvSpPr/>
                <p:nvPr/>
              </p:nvSpPr>
              <p:spPr bwMode="auto">
                <a:xfrm>
                  <a:off x="4484240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CB8B6723-164D-B8E9-9E06-191C78D6CB1C}"/>
                    </a:ext>
                  </a:extLst>
                </p:cNvPr>
                <p:cNvSpPr/>
                <p:nvPr/>
              </p:nvSpPr>
              <p:spPr bwMode="auto">
                <a:xfrm>
                  <a:off x="4253059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7BC3A30E-FB5C-4E07-54E2-E7D5AB9CD708}"/>
                    </a:ext>
                  </a:extLst>
                </p:cNvPr>
                <p:cNvSpPr/>
                <p:nvPr/>
              </p:nvSpPr>
              <p:spPr bwMode="auto">
                <a:xfrm>
                  <a:off x="4484240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EE936252-85AF-0BF0-0ADD-53586DE2D9EE}"/>
                  </a:ext>
                </a:extLst>
              </p:cNvPr>
              <p:cNvGrpSpPr/>
              <p:nvPr/>
            </p:nvGrpSpPr>
            <p:grpSpPr>
              <a:xfrm>
                <a:off x="4618856" y="4147850"/>
                <a:ext cx="453584" cy="454205"/>
                <a:chOff x="4716987" y="4184800"/>
                <a:chExt cx="453584" cy="454205"/>
              </a:xfrm>
              <a:solidFill>
                <a:srgbClr val="FF0000"/>
              </a:solidFill>
            </p:grpSpPr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D4EB6171-D7D9-18D7-46F6-D306F1F30ED2}"/>
                    </a:ext>
                  </a:extLst>
                </p:cNvPr>
                <p:cNvSpPr/>
                <p:nvPr/>
              </p:nvSpPr>
              <p:spPr bwMode="auto">
                <a:xfrm>
                  <a:off x="4716987" y="4184800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B8589E81-AB85-BDE4-2861-75D017F7B11A}"/>
                    </a:ext>
                  </a:extLst>
                </p:cNvPr>
                <p:cNvSpPr/>
                <p:nvPr/>
              </p:nvSpPr>
              <p:spPr bwMode="auto">
                <a:xfrm>
                  <a:off x="4948167" y="4184800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50E5C470-8926-EC0B-9D95-964C17832872}"/>
                    </a:ext>
                  </a:extLst>
                </p:cNvPr>
                <p:cNvSpPr/>
                <p:nvPr/>
              </p:nvSpPr>
              <p:spPr bwMode="auto">
                <a:xfrm>
                  <a:off x="4716987" y="4416601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8483A3C1-1A1A-039C-4F00-17D4DC8D33C6}"/>
                    </a:ext>
                  </a:extLst>
                </p:cNvPr>
                <p:cNvSpPr/>
                <p:nvPr/>
              </p:nvSpPr>
              <p:spPr bwMode="auto">
                <a:xfrm>
                  <a:off x="4948167" y="4416601"/>
                  <a:ext cx="222404" cy="222404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6F4A4686-76FB-51F6-6E09-125CA5FC950D}"/>
                </a:ext>
              </a:extLst>
            </p:cNvPr>
            <p:cNvGrpSpPr/>
            <p:nvPr/>
          </p:nvGrpSpPr>
          <p:grpSpPr>
            <a:xfrm>
              <a:off x="3785836" y="2248375"/>
              <a:ext cx="357902" cy="358391"/>
              <a:chOff x="4253059" y="3722156"/>
              <a:chExt cx="453585" cy="454205"/>
            </a:xfrm>
            <a:noFill/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05DF482F-3FA8-F349-CC59-F3A09E204FDF}"/>
                  </a:ext>
                </a:extLst>
              </p:cNvPr>
              <p:cNvSpPr/>
              <p:nvPr/>
            </p:nvSpPr>
            <p:spPr bwMode="auto">
              <a:xfrm>
                <a:off x="4253059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FCC49E41-C3CF-4C5E-425C-EE18531B1E52}"/>
                  </a:ext>
                </a:extLst>
              </p:cNvPr>
              <p:cNvSpPr/>
              <p:nvPr/>
            </p:nvSpPr>
            <p:spPr bwMode="auto">
              <a:xfrm>
                <a:off x="4484240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E29EEEF1-8C78-ACEE-29FA-3F1B03B4FB74}"/>
                  </a:ext>
                </a:extLst>
              </p:cNvPr>
              <p:cNvSpPr/>
              <p:nvPr/>
            </p:nvSpPr>
            <p:spPr bwMode="auto">
              <a:xfrm>
                <a:off x="4253059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01D4D6DE-EBF8-EF19-E9B9-89B3C83C2985}"/>
                  </a:ext>
                </a:extLst>
              </p:cNvPr>
              <p:cNvSpPr/>
              <p:nvPr/>
            </p:nvSpPr>
            <p:spPr bwMode="auto">
              <a:xfrm>
                <a:off x="4484240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52CDE039-153D-63E5-EC3A-2DC4AF7A1F53}"/>
                </a:ext>
              </a:extLst>
            </p:cNvPr>
            <p:cNvGrpSpPr/>
            <p:nvPr/>
          </p:nvGrpSpPr>
          <p:grpSpPr>
            <a:xfrm>
              <a:off x="4151899" y="2248375"/>
              <a:ext cx="357901" cy="358391"/>
              <a:chOff x="4716987" y="3722156"/>
              <a:chExt cx="453584" cy="454205"/>
            </a:xfrm>
            <a:noFill/>
          </p:grpSpPr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905635A3-F407-BFC7-9CC3-33126534F31D}"/>
                  </a:ext>
                </a:extLst>
              </p:cNvPr>
              <p:cNvSpPr/>
              <p:nvPr/>
            </p:nvSpPr>
            <p:spPr bwMode="auto">
              <a:xfrm>
                <a:off x="4716987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C2BBD1AE-9099-20FC-1C45-B5D1FE75C461}"/>
                  </a:ext>
                </a:extLst>
              </p:cNvPr>
              <p:cNvSpPr/>
              <p:nvPr/>
            </p:nvSpPr>
            <p:spPr bwMode="auto">
              <a:xfrm>
                <a:off x="4948167" y="3722156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B0693FE8-D81D-7898-4A83-88C78632B3E0}"/>
                  </a:ext>
                </a:extLst>
              </p:cNvPr>
              <p:cNvSpPr/>
              <p:nvPr/>
            </p:nvSpPr>
            <p:spPr bwMode="auto">
              <a:xfrm>
                <a:off x="4716987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EC6B804-8890-7B9C-3A8B-138905890299}"/>
                  </a:ext>
                </a:extLst>
              </p:cNvPr>
              <p:cNvSpPr/>
              <p:nvPr/>
            </p:nvSpPr>
            <p:spPr bwMode="auto">
              <a:xfrm>
                <a:off x="4948167" y="3953957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1247C12-DA63-394E-6201-6CD5B286B39C}"/>
                </a:ext>
              </a:extLst>
            </p:cNvPr>
            <p:cNvGrpSpPr/>
            <p:nvPr/>
          </p:nvGrpSpPr>
          <p:grpSpPr>
            <a:xfrm>
              <a:off x="3785836" y="2613425"/>
              <a:ext cx="357902" cy="358391"/>
              <a:chOff x="4253059" y="4184800"/>
              <a:chExt cx="453585" cy="454205"/>
            </a:xfrm>
            <a:noFill/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C602FAC-6ECA-6665-3154-58079C75CF2F}"/>
                  </a:ext>
                </a:extLst>
              </p:cNvPr>
              <p:cNvSpPr/>
              <p:nvPr/>
            </p:nvSpPr>
            <p:spPr bwMode="auto">
              <a:xfrm>
                <a:off x="4253059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05B86098-26B2-C162-6210-B97F0A0E953D}"/>
                  </a:ext>
                </a:extLst>
              </p:cNvPr>
              <p:cNvSpPr/>
              <p:nvPr/>
            </p:nvSpPr>
            <p:spPr bwMode="auto">
              <a:xfrm>
                <a:off x="4484240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60C7115-4608-3D9D-B0AB-27DAAA5A672C}"/>
                  </a:ext>
                </a:extLst>
              </p:cNvPr>
              <p:cNvSpPr/>
              <p:nvPr/>
            </p:nvSpPr>
            <p:spPr bwMode="auto">
              <a:xfrm>
                <a:off x="4253059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FB1B9F2-A8B5-6018-AA5D-0F6A46320F82}"/>
                  </a:ext>
                </a:extLst>
              </p:cNvPr>
              <p:cNvSpPr/>
              <p:nvPr/>
            </p:nvSpPr>
            <p:spPr bwMode="auto">
              <a:xfrm>
                <a:off x="4484240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31905E0A-76A3-1AEB-2823-3E9C85748617}"/>
                </a:ext>
              </a:extLst>
            </p:cNvPr>
            <p:cNvGrpSpPr/>
            <p:nvPr/>
          </p:nvGrpSpPr>
          <p:grpSpPr>
            <a:xfrm>
              <a:off x="4151899" y="2613425"/>
              <a:ext cx="357901" cy="358391"/>
              <a:chOff x="4716987" y="4184800"/>
              <a:chExt cx="453584" cy="454205"/>
            </a:xfrm>
            <a:noFill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F518242-A8E9-4EF9-2FB0-F44F81CF2261}"/>
                  </a:ext>
                </a:extLst>
              </p:cNvPr>
              <p:cNvSpPr/>
              <p:nvPr/>
            </p:nvSpPr>
            <p:spPr bwMode="auto">
              <a:xfrm>
                <a:off x="4716987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571D2078-BC86-417B-7D13-BD92A8539A52}"/>
                  </a:ext>
                </a:extLst>
              </p:cNvPr>
              <p:cNvSpPr/>
              <p:nvPr/>
            </p:nvSpPr>
            <p:spPr bwMode="auto">
              <a:xfrm>
                <a:off x="4948167" y="4184800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12C4977E-22FC-CAED-8137-73996E5DB330}"/>
                  </a:ext>
                </a:extLst>
              </p:cNvPr>
              <p:cNvSpPr/>
              <p:nvPr/>
            </p:nvSpPr>
            <p:spPr bwMode="auto">
              <a:xfrm>
                <a:off x="4716987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088BD949-3F88-2223-0349-977D8523B48F}"/>
                  </a:ext>
                </a:extLst>
              </p:cNvPr>
              <p:cNvSpPr/>
              <p:nvPr/>
            </p:nvSpPr>
            <p:spPr bwMode="auto">
              <a:xfrm>
                <a:off x="4948167" y="4416601"/>
                <a:ext cx="222404" cy="22240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4858B75-D833-BE78-4C34-6CC4694AF7D8}"/>
                </a:ext>
              </a:extLst>
            </p:cNvPr>
            <p:cNvGrpSpPr/>
            <p:nvPr/>
          </p:nvGrpSpPr>
          <p:grpSpPr>
            <a:xfrm>
              <a:off x="4621910" y="1412162"/>
              <a:ext cx="723965" cy="723441"/>
              <a:chOff x="4154928" y="3685206"/>
              <a:chExt cx="917512" cy="916849"/>
            </a:xfrm>
            <a:noFill/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31EFE07F-C170-3394-9B09-2C6BAF48D76C}"/>
                  </a:ext>
                </a:extLst>
              </p:cNvPr>
              <p:cNvGrpSpPr/>
              <p:nvPr/>
            </p:nvGrpSpPr>
            <p:grpSpPr>
              <a:xfrm>
                <a:off x="4154928" y="3685206"/>
                <a:ext cx="453585" cy="454205"/>
                <a:chOff x="4253059" y="3722156"/>
                <a:chExt cx="453585" cy="454205"/>
              </a:xfrm>
              <a:grpFill/>
            </p:grpSpPr>
            <p:sp>
              <p:nvSpPr>
                <p:cNvPr id="284" name="Rectangle 283">
                  <a:extLst>
                    <a:ext uri="{FF2B5EF4-FFF2-40B4-BE49-F238E27FC236}">
                      <a16:creationId xmlns:a16="http://schemas.microsoft.com/office/drawing/2014/main" id="{12C90439-6781-1615-CD00-0E0CBB3CB3B6}"/>
                    </a:ext>
                  </a:extLst>
                </p:cNvPr>
                <p:cNvSpPr/>
                <p:nvPr/>
              </p:nvSpPr>
              <p:spPr bwMode="auto">
                <a:xfrm>
                  <a:off x="4253059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34B7CD62-92CA-BB97-3EE2-9C6064F99C08}"/>
                    </a:ext>
                  </a:extLst>
                </p:cNvPr>
                <p:cNvSpPr/>
                <p:nvPr/>
              </p:nvSpPr>
              <p:spPr bwMode="auto">
                <a:xfrm>
                  <a:off x="4484240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6" name="Rectangle 285">
                  <a:extLst>
                    <a:ext uri="{FF2B5EF4-FFF2-40B4-BE49-F238E27FC236}">
                      <a16:creationId xmlns:a16="http://schemas.microsoft.com/office/drawing/2014/main" id="{A2802093-84DE-FBD0-A005-9E4B57ABE164}"/>
                    </a:ext>
                  </a:extLst>
                </p:cNvPr>
                <p:cNvSpPr/>
                <p:nvPr/>
              </p:nvSpPr>
              <p:spPr bwMode="auto">
                <a:xfrm>
                  <a:off x="4253059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465286F1-4AB4-1ACA-14EB-3A763C61F727}"/>
                    </a:ext>
                  </a:extLst>
                </p:cNvPr>
                <p:cNvSpPr/>
                <p:nvPr/>
              </p:nvSpPr>
              <p:spPr bwMode="auto">
                <a:xfrm>
                  <a:off x="4484240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7346B55D-8D8E-98B7-36A3-948717715568}"/>
                  </a:ext>
                </a:extLst>
              </p:cNvPr>
              <p:cNvGrpSpPr/>
              <p:nvPr/>
            </p:nvGrpSpPr>
            <p:grpSpPr>
              <a:xfrm>
                <a:off x="4618856" y="3685206"/>
                <a:ext cx="453584" cy="454205"/>
                <a:chOff x="4716987" y="3722156"/>
                <a:chExt cx="453584" cy="454205"/>
              </a:xfrm>
              <a:grpFill/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B096F098-F693-CE75-3D5B-E7DE56BB0EC8}"/>
                    </a:ext>
                  </a:extLst>
                </p:cNvPr>
                <p:cNvSpPr/>
                <p:nvPr/>
              </p:nvSpPr>
              <p:spPr bwMode="auto">
                <a:xfrm>
                  <a:off x="4716987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222E931B-2E03-3A76-7885-78F9C3AB0191}"/>
                    </a:ext>
                  </a:extLst>
                </p:cNvPr>
                <p:cNvSpPr/>
                <p:nvPr/>
              </p:nvSpPr>
              <p:spPr bwMode="auto">
                <a:xfrm>
                  <a:off x="4948167" y="3722156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2" name="Rectangle 281">
                  <a:extLst>
                    <a:ext uri="{FF2B5EF4-FFF2-40B4-BE49-F238E27FC236}">
                      <a16:creationId xmlns:a16="http://schemas.microsoft.com/office/drawing/2014/main" id="{16EDE029-BFC5-3225-47EB-5FB19B183905}"/>
                    </a:ext>
                  </a:extLst>
                </p:cNvPr>
                <p:cNvSpPr/>
                <p:nvPr/>
              </p:nvSpPr>
              <p:spPr bwMode="auto">
                <a:xfrm>
                  <a:off x="4716987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A699A615-ACAD-7712-92CF-9775C91998AA}"/>
                    </a:ext>
                  </a:extLst>
                </p:cNvPr>
                <p:cNvSpPr/>
                <p:nvPr/>
              </p:nvSpPr>
              <p:spPr bwMode="auto">
                <a:xfrm>
                  <a:off x="4948167" y="3953957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0924D742-F4F5-A176-1406-F80E81377C8C}"/>
                  </a:ext>
                </a:extLst>
              </p:cNvPr>
              <p:cNvGrpSpPr/>
              <p:nvPr/>
            </p:nvGrpSpPr>
            <p:grpSpPr>
              <a:xfrm>
                <a:off x="4154928" y="4147850"/>
                <a:ext cx="453585" cy="454205"/>
                <a:chOff x="4253059" y="4184800"/>
                <a:chExt cx="453585" cy="454205"/>
              </a:xfrm>
              <a:grpFill/>
            </p:grpSpPr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74285279-C89F-6491-DB5F-1D8E91470FDC}"/>
                    </a:ext>
                  </a:extLst>
                </p:cNvPr>
                <p:cNvSpPr/>
                <p:nvPr/>
              </p:nvSpPr>
              <p:spPr bwMode="auto">
                <a:xfrm>
                  <a:off x="4253059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7" name="Rectangle 276">
                  <a:extLst>
                    <a:ext uri="{FF2B5EF4-FFF2-40B4-BE49-F238E27FC236}">
                      <a16:creationId xmlns:a16="http://schemas.microsoft.com/office/drawing/2014/main" id="{93D0B883-4118-B118-3773-8AF96517B920}"/>
                    </a:ext>
                  </a:extLst>
                </p:cNvPr>
                <p:cNvSpPr/>
                <p:nvPr/>
              </p:nvSpPr>
              <p:spPr bwMode="auto">
                <a:xfrm>
                  <a:off x="4484240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A93B2075-FE61-4F85-CCDF-9AF6C554A311}"/>
                    </a:ext>
                  </a:extLst>
                </p:cNvPr>
                <p:cNvSpPr/>
                <p:nvPr/>
              </p:nvSpPr>
              <p:spPr bwMode="auto">
                <a:xfrm>
                  <a:off x="4253059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29EE5DA0-C9D3-0174-8EFC-B88FB2B755B4}"/>
                    </a:ext>
                  </a:extLst>
                </p:cNvPr>
                <p:cNvSpPr/>
                <p:nvPr/>
              </p:nvSpPr>
              <p:spPr bwMode="auto">
                <a:xfrm>
                  <a:off x="4484240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33E32C74-32FF-7500-9EFE-DC87EDBD5C06}"/>
                  </a:ext>
                </a:extLst>
              </p:cNvPr>
              <p:cNvGrpSpPr/>
              <p:nvPr/>
            </p:nvGrpSpPr>
            <p:grpSpPr>
              <a:xfrm>
                <a:off x="4618856" y="4147850"/>
                <a:ext cx="453584" cy="454205"/>
                <a:chOff x="4716987" y="4184800"/>
                <a:chExt cx="453584" cy="454205"/>
              </a:xfrm>
              <a:grpFill/>
            </p:grpSpPr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99B6B1F6-38C3-AF47-687B-52DDDD79B7D9}"/>
                    </a:ext>
                  </a:extLst>
                </p:cNvPr>
                <p:cNvSpPr/>
                <p:nvPr/>
              </p:nvSpPr>
              <p:spPr bwMode="auto">
                <a:xfrm>
                  <a:off x="4716987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2DC75441-8A19-ED13-2376-72CFE39B07EC}"/>
                    </a:ext>
                  </a:extLst>
                </p:cNvPr>
                <p:cNvSpPr/>
                <p:nvPr/>
              </p:nvSpPr>
              <p:spPr bwMode="auto">
                <a:xfrm>
                  <a:off x="4948167" y="4184800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BEE592A1-3564-3919-0C3D-868D2D4A667D}"/>
                    </a:ext>
                  </a:extLst>
                </p:cNvPr>
                <p:cNvSpPr/>
                <p:nvPr/>
              </p:nvSpPr>
              <p:spPr bwMode="auto">
                <a:xfrm>
                  <a:off x="4716987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96638E48-8743-ED4C-8B45-D061B4EF6390}"/>
                    </a:ext>
                  </a:extLst>
                </p:cNvPr>
                <p:cNvSpPr/>
                <p:nvPr/>
              </p:nvSpPr>
              <p:spPr bwMode="auto">
                <a:xfrm>
                  <a:off x="4948167" y="4416601"/>
                  <a:ext cx="222404" cy="222404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F454D419-C0CD-7C76-12E0-9A42582157A7}"/>
              </a:ext>
            </a:extLst>
          </p:cNvPr>
          <p:cNvCxnSpPr/>
          <p:nvPr/>
        </p:nvCxnSpPr>
        <p:spPr>
          <a:xfrm>
            <a:off x="8444485" y="1277498"/>
            <a:ext cx="380144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13957983-BA4D-C4C3-D4CB-A36FA31F2BAD}"/>
              </a:ext>
            </a:extLst>
          </p:cNvPr>
          <p:cNvCxnSpPr>
            <a:cxnSpLocks/>
          </p:cNvCxnSpPr>
          <p:nvPr/>
        </p:nvCxnSpPr>
        <p:spPr>
          <a:xfrm>
            <a:off x="8381691" y="3457476"/>
            <a:ext cx="458914" cy="61104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145835DD-A0DD-8C22-3ADF-5D337E8CFA8B}"/>
              </a:ext>
            </a:extLst>
          </p:cNvPr>
          <p:cNvCxnSpPr>
            <a:cxnSpLocks/>
          </p:cNvCxnSpPr>
          <p:nvPr/>
        </p:nvCxnSpPr>
        <p:spPr>
          <a:xfrm flipV="1">
            <a:off x="8381691" y="4602773"/>
            <a:ext cx="458914" cy="673229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3ABC9128-873C-34E4-56DA-AFDB166DDE11}"/>
              </a:ext>
            </a:extLst>
          </p:cNvPr>
          <p:cNvSpPr txBox="1"/>
          <p:nvPr/>
        </p:nvSpPr>
        <p:spPr>
          <a:xfrm>
            <a:off x="6692613" y="740267"/>
            <a:ext cx="9499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err="1">
                <a:latin typeface="Consolas" panose="020B0609020204030204" pitchFamily="49" charset="0"/>
              </a:rPr>
              <a:t>gemm</a:t>
            </a:r>
            <a:endParaRPr lang="en-US" sz="1800">
              <a:latin typeface="Consolas" panose="020B0609020204030204" pitchFamily="49" charset="0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5D24AC7-098A-F136-37E1-46C01027E97E}"/>
              </a:ext>
            </a:extLst>
          </p:cNvPr>
          <p:cNvSpPr txBox="1"/>
          <p:nvPr/>
        </p:nvSpPr>
        <p:spPr>
          <a:xfrm>
            <a:off x="7048643" y="4272900"/>
            <a:ext cx="9499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>
                <a:latin typeface="Consolas" panose="020B0609020204030204" pitchFamily="49" charset="0"/>
              </a:rPr>
              <a:t>comm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BB968D91-5707-EECD-36D6-7B92E2C8C8CF}"/>
              </a:ext>
            </a:extLst>
          </p:cNvPr>
          <p:cNvSpPr txBox="1"/>
          <p:nvPr/>
        </p:nvSpPr>
        <p:spPr>
          <a:xfrm>
            <a:off x="6692612" y="2869210"/>
            <a:ext cx="9499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 err="1">
                <a:latin typeface="Consolas" panose="020B0609020204030204" pitchFamily="49" charset="0"/>
              </a:rPr>
              <a:t>gemm</a:t>
            </a:r>
            <a:endParaRPr lang="en-US" sz="1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5643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AC9-1B72-65D3-A04D-F77BEE67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Issues w/ Concurrent GEMM &amp; Comm Kernels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B1D83-8B30-A687-68D4-AB27F549E6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/>
              <a:t>Tail Latency Effect (wave quantization)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As we increase the number of available resources the latency will not reduce unless there is an even distribution of work with same work quantum.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If the same work quantum is used, kernel performance will not be a linear function of resources, but rather a stepwise function.</a:t>
            </a:r>
          </a:p>
          <a:p>
            <a:pPr marL="342900" indent="-342900">
              <a:buAutoNum type="arabicPeriod"/>
            </a:pPr>
            <a:r>
              <a:rPr lang="en-US"/>
              <a:t>Work Distribution Across XCDs and SEs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WG dispatching order (round robin between XCDs) can introduce low utilization of resources, because CUs are released out of order.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Faux CU allocation granularity of 32 (or 8 – with CP FW workaround) CUs, which leads to unequal distribution of work.</a:t>
            </a:r>
          </a:p>
          <a:p>
            <a:pPr marL="342900" indent="-342900">
              <a:buAutoNum type="arabicPeriod"/>
            </a:pPr>
            <a:r>
              <a:rPr lang="en-US"/>
              <a:t>L2 and MALL Thrashing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/>
              <a:t>When GEMM and Comm memory footprint exceeds the L2/MALL capacity.</a:t>
            </a:r>
          </a:p>
          <a:p>
            <a:pPr marL="342900" indent="-342900">
              <a:buAutoNum type="arabicPeriod"/>
            </a:pPr>
            <a:r>
              <a:rPr lang="en-US"/>
              <a:t>HBM and Network Contention</a:t>
            </a:r>
          </a:p>
        </p:txBody>
      </p:sp>
    </p:spTree>
    <p:extLst>
      <p:ext uri="{BB962C8B-B14F-4D97-AF65-F5344CB8AC3E}">
        <p14:creationId xmlns:p14="http://schemas.microsoft.com/office/powerpoint/2010/main" val="11318641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74D3-9530-D4F8-5D19-7B1E6210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Tail Latency Effect (Wave Quantization)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3DD874-400B-8581-FA26-7176E169BB1F}"/>
              </a:ext>
            </a:extLst>
          </p:cNvPr>
          <p:cNvGrpSpPr/>
          <p:nvPr/>
        </p:nvGrpSpPr>
        <p:grpSpPr>
          <a:xfrm>
            <a:off x="6187847" y="2111462"/>
            <a:ext cx="5077180" cy="4154748"/>
            <a:chOff x="3933009" y="1454246"/>
            <a:chExt cx="5077180" cy="41547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0A476-9D69-C9C5-6D6A-67C96599C86F}"/>
                </a:ext>
              </a:extLst>
            </p:cNvPr>
            <p:cNvSpPr/>
            <p:nvPr/>
          </p:nvSpPr>
          <p:spPr>
            <a:xfrm>
              <a:off x="3933009" y="1454246"/>
              <a:ext cx="4113379" cy="987654"/>
            </a:xfrm>
            <a:prstGeom prst="rect">
              <a:avLst/>
            </a:prstGeom>
            <a:gradFill flip="none" rotWithShape="1">
              <a:gsLst>
                <a:gs pos="0">
                  <a:srgbClr val="9E1212">
                    <a:lumMod val="20000"/>
                    <a:lumOff val="80000"/>
                  </a:srgbClr>
                </a:gs>
                <a:gs pos="100000">
                  <a:srgbClr val="9E1212"/>
                </a:gs>
              </a:gsLst>
              <a:lin ang="10800000" scaled="1"/>
              <a:tileRect/>
            </a:gradFill>
            <a:ln w="31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941C5C-1DCA-DC60-7ACE-2EB73D737D06}"/>
                </a:ext>
              </a:extLst>
            </p:cNvPr>
            <p:cNvSpPr/>
            <p:nvPr/>
          </p:nvSpPr>
          <p:spPr>
            <a:xfrm>
              <a:off x="3933009" y="2509944"/>
              <a:ext cx="4113379" cy="987654"/>
            </a:xfrm>
            <a:prstGeom prst="rect">
              <a:avLst/>
            </a:prstGeom>
            <a:gradFill flip="none" rotWithShape="1">
              <a:gsLst>
                <a:gs pos="0">
                  <a:srgbClr val="9E1212">
                    <a:lumMod val="20000"/>
                    <a:lumOff val="80000"/>
                  </a:srgbClr>
                </a:gs>
                <a:gs pos="100000">
                  <a:srgbClr val="9E1212"/>
                </a:gs>
              </a:gsLst>
              <a:lin ang="10800000" scaled="1"/>
              <a:tileRect/>
            </a:gradFill>
            <a:ln w="31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B3F8F4-ED8A-B6D6-CF80-D96F376A3483}"/>
                </a:ext>
              </a:extLst>
            </p:cNvPr>
            <p:cNvSpPr/>
            <p:nvPr/>
          </p:nvSpPr>
          <p:spPr>
            <a:xfrm>
              <a:off x="3933009" y="3565642"/>
              <a:ext cx="4113379" cy="987654"/>
            </a:xfrm>
            <a:prstGeom prst="rect">
              <a:avLst/>
            </a:prstGeom>
            <a:gradFill flip="none" rotWithShape="1">
              <a:gsLst>
                <a:gs pos="0">
                  <a:srgbClr val="9E1212">
                    <a:lumMod val="20000"/>
                    <a:lumOff val="80000"/>
                  </a:srgbClr>
                </a:gs>
                <a:gs pos="100000">
                  <a:srgbClr val="9E1212"/>
                </a:gs>
              </a:gsLst>
              <a:lin ang="10800000" scaled="1"/>
              <a:tileRect/>
            </a:gradFill>
            <a:ln w="31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8F5A2F-C27A-042D-7613-E612DCF29219}"/>
                </a:ext>
              </a:extLst>
            </p:cNvPr>
            <p:cNvSpPr/>
            <p:nvPr/>
          </p:nvSpPr>
          <p:spPr>
            <a:xfrm>
              <a:off x="3933009" y="4621340"/>
              <a:ext cx="4113379" cy="987654"/>
            </a:xfrm>
            <a:prstGeom prst="rect">
              <a:avLst/>
            </a:prstGeom>
            <a:gradFill flip="none" rotWithShape="1">
              <a:gsLst>
                <a:gs pos="0">
                  <a:srgbClr val="9E1212">
                    <a:lumMod val="20000"/>
                    <a:lumOff val="80000"/>
                  </a:srgbClr>
                </a:gs>
                <a:gs pos="100000">
                  <a:srgbClr val="9E1212"/>
                </a:gs>
              </a:gsLst>
              <a:lin ang="10800000" scaled="1"/>
              <a:tileRect/>
            </a:gradFill>
            <a:ln w="31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1F7EB9-4068-463C-6506-1F9FCDC09474}"/>
                </a:ext>
              </a:extLst>
            </p:cNvPr>
            <p:cNvSpPr txBox="1"/>
            <p:nvPr/>
          </p:nvSpPr>
          <p:spPr>
            <a:xfrm>
              <a:off x="8183291" y="1742704"/>
              <a:ext cx="82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CU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68D2B-5814-232A-91AD-6D82CF7451A6}"/>
                </a:ext>
              </a:extLst>
            </p:cNvPr>
            <p:cNvSpPr txBox="1"/>
            <p:nvPr/>
          </p:nvSpPr>
          <p:spPr>
            <a:xfrm>
              <a:off x="8183291" y="2801059"/>
              <a:ext cx="82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CU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63610C-3096-E30E-1053-A2DB7F7F31D3}"/>
                </a:ext>
              </a:extLst>
            </p:cNvPr>
            <p:cNvSpPr txBox="1"/>
            <p:nvPr/>
          </p:nvSpPr>
          <p:spPr>
            <a:xfrm>
              <a:off x="8183291" y="3859414"/>
              <a:ext cx="82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CU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B4EA27-3309-C1D7-A20D-3A5D1E9ED86B}"/>
                </a:ext>
              </a:extLst>
            </p:cNvPr>
            <p:cNvSpPr txBox="1"/>
            <p:nvPr/>
          </p:nvSpPr>
          <p:spPr>
            <a:xfrm>
              <a:off x="8183291" y="4915112"/>
              <a:ext cx="82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CU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 panose="020B0603020202020204" pitchFamily="34" charset="0"/>
                  <a:cs typeface="Arial"/>
                  <a:sym typeface="Arial"/>
                </a:rPr>
                <a:t>3</a:t>
              </a:r>
            </a:p>
          </p:txBody>
        </p:sp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E652BDA-AF23-47D7-95E0-68BB20F7D021}"/>
                  </a:ext>
                </a:extLst>
              </p14:cNvPr>
              <p14:cNvContentPartPr/>
              <p14:nvPr/>
            </p14:nvContentPartPr>
            <p14:xfrm>
              <a:off x="-77686" y="1539178"/>
              <a:ext cx="360" cy="15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E652BDA-AF23-47D7-95E0-68BB20F7D0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5686" y="1431178"/>
                <a:ext cx="36000" cy="23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27B7C7B-12FC-E6FF-E921-C6BF07739AFB}"/>
              </a:ext>
            </a:extLst>
          </p:cNvPr>
          <p:cNvGrpSpPr/>
          <p:nvPr/>
        </p:nvGrpSpPr>
        <p:grpSpPr>
          <a:xfrm>
            <a:off x="6276975" y="2196181"/>
            <a:ext cx="845688" cy="3999046"/>
            <a:chOff x="14444259" y="-77575"/>
            <a:chExt cx="1828800" cy="86479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EE4A2F3-C316-5618-2AA4-2C8E8F2C2503}"/>
                </a:ext>
              </a:extLst>
            </p:cNvPr>
            <p:cNvSpPr/>
            <p:nvPr/>
          </p:nvSpPr>
          <p:spPr>
            <a:xfrm>
              <a:off x="14444259" y="2190518"/>
              <a:ext cx="1828800" cy="1828799"/>
            </a:xfrm>
            <a:prstGeom prst="rect">
              <a:avLst/>
            </a:prstGeom>
            <a:solidFill>
              <a:srgbClr val="B3B3B3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9FE637-D8BE-A953-9805-233A4206D45E}"/>
                </a:ext>
              </a:extLst>
            </p:cNvPr>
            <p:cNvSpPr/>
            <p:nvPr/>
          </p:nvSpPr>
          <p:spPr>
            <a:xfrm>
              <a:off x="14444259" y="-77575"/>
              <a:ext cx="1828800" cy="1828799"/>
            </a:xfrm>
            <a:prstGeom prst="rect">
              <a:avLst/>
            </a:prstGeom>
            <a:solidFill>
              <a:srgbClr val="000000">
                <a:lumMod val="85000"/>
                <a:lumOff val="15000"/>
              </a:srgb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ACF556-7E5B-6474-6D92-7B9DFEB537DA}"/>
                </a:ext>
              </a:extLst>
            </p:cNvPr>
            <p:cNvSpPr/>
            <p:nvPr/>
          </p:nvSpPr>
          <p:spPr>
            <a:xfrm>
              <a:off x="14444259" y="4458609"/>
              <a:ext cx="1828800" cy="1828801"/>
            </a:xfrm>
            <a:prstGeom prst="rect">
              <a:avLst/>
            </a:prstGeom>
            <a:solidFill>
              <a:srgbClr val="000000">
                <a:lumMod val="75000"/>
                <a:lumOff val="25000"/>
              </a:srgb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F91915-A88C-0626-14F6-C7AB19A8603B}"/>
                </a:ext>
              </a:extLst>
            </p:cNvPr>
            <p:cNvSpPr/>
            <p:nvPr/>
          </p:nvSpPr>
          <p:spPr>
            <a:xfrm>
              <a:off x="14444259" y="6741556"/>
              <a:ext cx="1828800" cy="1828799"/>
            </a:xfrm>
            <a:prstGeom prst="rect">
              <a:avLst/>
            </a:prstGeom>
            <a:solidFill>
              <a:srgbClr val="000000">
                <a:lumMod val="65000"/>
                <a:lumOff val="35000"/>
              </a:srgb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2F3CBAA-D837-9663-7512-61CCB8FCBD4C}"/>
              </a:ext>
            </a:extLst>
          </p:cNvPr>
          <p:cNvSpPr txBox="1"/>
          <p:nvPr/>
        </p:nvSpPr>
        <p:spPr>
          <a:xfrm>
            <a:off x="6276974" y="1785737"/>
            <a:ext cx="84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1100" kern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timestep</a:t>
            </a:r>
            <a:r>
              <a:rPr lang="en-US" sz="1100" kern="0" baseline="-2500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0</a:t>
            </a:r>
            <a:endParaRPr lang="en-US" sz="700" kern="0" baseline="-2500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A0466-56F9-01D0-EE8A-6214CBBAAE6A}"/>
              </a:ext>
            </a:extLst>
          </p:cNvPr>
          <p:cNvSpPr/>
          <p:nvPr/>
        </p:nvSpPr>
        <p:spPr>
          <a:xfrm>
            <a:off x="6187848" y="1264499"/>
            <a:ext cx="965859" cy="261354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/>
              </a:rPr>
              <a:t>OCCUPANCY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44AD9E-0B2B-EED1-FCF4-A6BCACA62AC2}"/>
              </a:ext>
            </a:extLst>
          </p:cNvPr>
          <p:cNvSpPr/>
          <p:nvPr/>
        </p:nvSpPr>
        <p:spPr>
          <a:xfrm>
            <a:off x="6187847" y="1525853"/>
            <a:ext cx="965859" cy="259884"/>
          </a:xfrm>
          <a:prstGeom prst="rect">
            <a:avLst/>
          </a:prstGeom>
          <a:solidFill>
            <a:srgbClr val="76B9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/>
              </a:rPr>
              <a:t>100%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E4F980-6DD9-2AF4-AE35-C6F290CCC861}"/>
              </a:ext>
            </a:extLst>
          </p:cNvPr>
          <p:cNvSpPr txBox="1"/>
          <p:nvPr/>
        </p:nvSpPr>
        <p:spPr>
          <a:xfrm>
            <a:off x="988313" y="2236386"/>
            <a:ext cx="44100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For a 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4 Tile </a:t>
            </a: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problem, we achieve perfect utilization (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100%</a:t>
            </a: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) on our hypothetical GPU.</a:t>
            </a:r>
          </a:p>
          <a:p>
            <a:pPr defTabSz="914400">
              <a:buClr>
                <a:srgbClr val="000000"/>
              </a:buClr>
              <a:buFont typeface="Arial"/>
              <a:buNone/>
            </a:pPr>
            <a:endParaRPr lang="en-US" sz="1600" kern="0">
              <a:solidFill>
                <a:srgbClr val="FFFFFF"/>
              </a:solidFill>
              <a:cs typeface="Arial"/>
              <a:sym typeface="Arial"/>
            </a:endParaRPr>
          </a:p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However, if we just had 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2 more tiles</a:t>
            </a: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, our occupancy for 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2</a:t>
            </a:r>
            <a:r>
              <a:rPr lang="en-US" sz="1600" b="1" kern="0" baseline="3000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nd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 timestep </a:t>
            </a: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will be only 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50%</a:t>
            </a:r>
            <a:r>
              <a:rPr lang="en-US" sz="1600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 and our total </a:t>
            </a:r>
            <a:r>
              <a:rPr lang="en-US" sz="1600" b="1" kern="0">
                <a:solidFill>
                  <a:srgbClr val="000000">
                    <a:lumMod val="50000"/>
                    <a:lumOff val="50000"/>
                  </a:srgbClr>
                </a:solidFill>
                <a:cs typeface="Arial"/>
                <a:sym typeface="Arial"/>
              </a:rPr>
              <a:t>utilization ceiling will be 75%.</a:t>
            </a:r>
          </a:p>
          <a:p>
            <a:pPr defTabSz="914400">
              <a:buClr>
                <a:srgbClr val="000000"/>
              </a:buClr>
              <a:buFont typeface="Arial"/>
              <a:buNone/>
            </a:pPr>
            <a:endParaRPr lang="en-US" sz="1600" b="1" kern="0">
              <a:solidFill>
                <a:srgbClr val="9E1212">
                  <a:lumMod val="60000"/>
                  <a:lumOff val="40000"/>
                </a:srgbClr>
              </a:solidFill>
              <a:cs typeface="Arial"/>
              <a:sym typeface="Arial"/>
            </a:endParaRPr>
          </a:p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1600" kern="0">
                <a:solidFill>
                  <a:srgbClr val="FFFFFF"/>
                </a:solidFill>
                <a:cs typeface="Arial"/>
                <a:sym typeface="Arial"/>
              </a:rPr>
              <a:t>This problem is known as </a:t>
            </a:r>
            <a:r>
              <a:rPr lang="en-US" sz="1600" b="1" kern="0">
                <a:solidFill>
                  <a:srgbClr val="9E1212">
                    <a:lumMod val="60000"/>
                    <a:lumOff val="40000"/>
                  </a:srgbClr>
                </a:solidFill>
                <a:cs typeface="Arial"/>
                <a:sym typeface="Arial"/>
              </a:rPr>
              <a:t>“wave” quantization</a:t>
            </a:r>
            <a:r>
              <a:rPr lang="en-US" sz="1600" kern="0">
                <a:solidFill>
                  <a:srgbClr val="FFFFFF"/>
                </a:solidFill>
                <a:cs typeface="Arial"/>
                <a:sym typeface="Arial"/>
              </a:rPr>
              <a:t>, where the wave refers to the timesteps (and not wavefronts in AMD GPUs).</a:t>
            </a:r>
            <a:endParaRPr lang="en-US" sz="1200" kern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BC77BA-E7B8-E1F6-F6DB-8CF6C79A3272}"/>
              </a:ext>
            </a:extLst>
          </p:cNvPr>
          <p:cNvSpPr/>
          <p:nvPr/>
        </p:nvSpPr>
        <p:spPr>
          <a:xfrm>
            <a:off x="7320092" y="2196181"/>
            <a:ext cx="845688" cy="845688"/>
          </a:xfrm>
          <a:prstGeom prst="rect">
            <a:avLst/>
          </a:prstGeom>
          <a:solidFill>
            <a:srgbClr val="000000">
              <a:lumMod val="95000"/>
              <a:lumOff val="5000"/>
            </a:srgb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75481D-5382-D0CA-5918-8F99E059D29B}"/>
              </a:ext>
            </a:extLst>
          </p:cNvPr>
          <p:cNvSpPr/>
          <p:nvPr/>
        </p:nvSpPr>
        <p:spPr>
          <a:xfrm>
            <a:off x="7320092" y="3245011"/>
            <a:ext cx="845688" cy="84568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6A6111-1693-24A6-9D99-30843EF71DCD}"/>
              </a:ext>
            </a:extLst>
          </p:cNvPr>
          <p:cNvSpPr txBox="1"/>
          <p:nvPr/>
        </p:nvSpPr>
        <p:spPr>
          <a:xfrm>
            <a:off x="7349134" y="1789956"/>
            <a:ext cx="84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1100" kern="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timestep</a:t>
            </a:r>
            <a:r>
              <a:rPr lang="en-US" sz="1100" kern="0" baseline="-25000"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</a:rPr>
              <a:t>1</a:t>
            </a:r>
            <a:endParaRPr lang="en-US" sz="700" kern="0" baseline="-25000">
              <a:solidFill>
                <a:srgbClr val="FFFFFF"/>
              </a:solidFill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A2A0A4-AEFA-99EB-87EE-58073AA1CD1F}"/>
              </a:ext>
            </a:extLst>
          </p:cNvPr>
          <p:cNvSpPr/>
          <p:nvPr/>
        </p:nvSpPr>
        <p:spPr>
          <a:xfrm>
            <a:off x="7260008" y="1268718"/>
            <a:ext cx="965859" cy="261354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/>
              </a:rPr>
              <a:t>OCCUPANCY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88C218-82BE-754D-345D-8D0369E9D87C}"/>
              </a:ext>
            </a:extLst>
          </p:cNvPr>
          <p:cNvSpPr/>
          <p:nvPr/>
        </p:nvSpPr>
        <p:spPr>
          <a:xfrm>
            <a:off x="7260007" y="1530072"/>
            <a:ext cx="965859" cy="259884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/>
              </a:rPr>
              <a:t>50%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B159F-015D-3568-6CAF-3F5E21B015E2}"/>
              </a:ext>
            </a:extLst>
          </p:cNvPr>
          <p:cNvSpPr txBox="1"/>
          <p:nvPr/>
        </p:nvSpPr>
        <p:spPr>
          <a:xfrm>
            <a:off x="7320092" y="4347434"/>
            <a:ext cx="849463" cy="1794201"/>
          </a:xfrm>
          <a:prstGeom prst="rect">
            <a:avLst/>
          </a:prstGeom>
          <a:solidFill>
            <a:srgbClr val="C00000">
              <a:alpha val="25000"/>
            </a:srgbClr>
          </a:solidFill>
          <a:ln w="15875" cap="flat" cmpd="sng" algn="ctr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vert270"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UNUSED RESOURCES!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6238BD-D41E-99A1-8FF9-9E24B20803C7}"/>
              </a:ext>
            </a:extLst>
          </p:cNvPr>
          <p:cNvSpPr txBox="1"/>
          <p:nvPr/>
        </p:nvSpPr>
        <p:spPr>
          <a:xfrm>
            <a:off x="1860766" y="5053513"/>
            <a:ext cx="2836954" cy="85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hlinkClick r:id="rId4"/>
              </a:rPr>
              <a:t>🚀Stream-K Schedule Explained &amp; Animated</a:t>
            </a:r>
            <a:endParaRPr lang="en-US"/>
          </a:p>
          <a:p>
            <a:pPr algn="ctr"/>
            <a:r>
              <a:rPr lang="en-US" sz="1400"/>
              <a:t>By Kapil Sharma @ Meta</a:t>
            </a:r>
          </a:p>
        </p:txBody>
      </p:sp>
    </p:spTree>
    <p:extLst>
      <p:ext uri="{BB962C8B-B14F-4D97-AF65-F5344CB8AC3E}">
        <p14:creationId xmlns:p14="http://schemas.microsoft.com/office/powerpoint/2010/main" val="12620396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B703-32B1-0B0A-EEEC-6D55D023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Work distribution across XCD and 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10C3A-BF5B-0591-36DB-B113C675E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Unusable CUs because of WG dispatching implementation in MI3**X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Asymmetric CU harvesting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Variable dispatch starting point among SEs</a:t>
            </a:r>
          </a:p>
          <a:p>
            <a:r>
              <a:rPr lang="en-US"/>
              <a:t>Static partitioning of 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CU masking further exacerbates the unusable-CUs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SE WG dispatch counters are not updated based on the CU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CP just reads the CC_GC_SHADER_ARRAY_CONFIG register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CC_GC_SHADER_ARRAY_CONFIG specifies only the physically available CUs, not the CUs marked as usable by the mask</a:t>
            </a:r>
          </a:p>
        </p:txBody>
      </p:sp>
    </p:spTree>
    <p:extLst>
      <p:ext uri="{BB962C8B-B14F-4D97-AF65-F5344CB8AC3E}">
        <p14:creationId xmlns:p14="http://schemas.microsoft.com/office/powerpoint/2010/main" val="42755475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4388-942B-B502-A402-DAB1B0DB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Workgroup Dispatching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C120C-CC32-E17D-FA62-CDAEC86F8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5509610" cy="4831840"/>
          </a:xfrm>
        </p:spPr>
        <p:txBody>
          <a:bodyPr anchor="ctr"/>
          <a:lstStyle/>
          <a:p>
            <a:r>
              <a:rPr lang="en-US"/>
              <a:t>Assuming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grid of 40 WGs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starting to dispatch from SE 3</a:t>
            </a:r>
          </a:p>
          <a:p>
            <a:endParaRPr lang="en-US"/>
          </a:p>
          <a:p>
            <a:r>
              <a:rPr lang="en-US"/>
              <a:t>WGs dispatch round-robin between SEs</a:t>
            </a:r>
          </a:p>
          <a:p>
            <a:endParaRPr lang="en-US"/>
          </a:p>
          <a:p>
            <a:r>
              <a:rPr lang="en-US"/>
              <a:t>Counters decrement w/ WG dispatch</a:t>
            </a:r>
          </a:p>
          <a:p>
            <a:r>
              <a:rPr lang="en-US"/>
              <a:t>When a counter reaches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dummy WG is dispatched to current 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second WG is dispatched to the next SE</a:t>
            </a:r>
          </a:p>
          <a:p>
            <a:endParaRPr lang="en-US"/>
          </a:p>
          <a:p>
            <a:r>
              <a:rPr lang="en-US"/>
              <a:t>In this way WGs are dispatched to the last CUs in SE[1, 2]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00D7F4A-475B-B5EF-F8E8-7363157C3334}"/>
              </a:ext>
            </a:extLst>
          </p:cNvPr>
          <p:cNvGrpSpPr/>
          <p:nvPr/>
        </p:nvGrpSpPr>
        <p:grpSpPr>
          <a:xfrm>
            <a:off x="6190970" y="2045826"/>
            <a:ext cx="5899283" cy="2766349"/>
            <a:chOff x="6190970" y="1434370"/>
            <a:chExt cx="5899283" cy="276634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4E957C-F7B3-25F6-3A99-71CA6432272F}"/>
                </a:ext>
              </a:extLst>
            </p:cNvPr>
            <p:cNvSpPr/>
            <p:nvPr/>
          </p:nvSpPr>
          <p:spPr bwMode="auto">
            <a:xfrm>
              <a:off x="6190970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41557D-1F26-6801-929E-7320FB46F8D2}"/>
                </a:ext>
              </a:extLst>
            </p:cNvPr>
            <p:cNvSpPr/>
            <p:nvPr/>
          </p:nvSpPr>
          <p:spPr bwMode="auto">
            <a:xfrm>
              <a:off x="6291669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CE089E-C358-A34F-DD31-96A25F5075A3}"/>
                </a:ext>
              </a:extLst>
            </p:cNvPr>
            <p:cNvSpPr/>
            <p:nvPr/>
          </p:nvSpPr>
          <p:spPr bwMode="auto">
            <a:xfrm>
              <a:off x="6957874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CFD090-42ED-1A0F-069A-F6CBC6315224}"/>
                </a:ext>
              </a:extLst>
            </p:cNvPr>
            <p:cNvSpPr/>
            <p:nvPr/>
          </p:nvSpPr>
          <p:spPr bwMode="auto">
            <a:xfrm>
              <a:off x="6300378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C6913F-2FFC-7FAD-9B36-B41E7F774FB5}"/>
                </a:ext>
              </a:extLst>
            </p:cNvPr>
            <p:cNvSpPr/>
            <p:nvPr/>
          </p:nvSpPr>
          <p:spPr bwMode="auto">
            <a:xfrm>
              <a:off x="6966583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D85DBC-E9D5-7CBE-FFD1-E45E6C17A865}"/>
                </a:ext>
              </a:extLst>
            </p:cNvPr>
            <p:cNvSpPr/>
            <p:nvPr/>
          </p:nvSpPr>
          <p:spPr bwMode="auto">
            <a:xfrm>
              <a:off x="6300378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A00A4F-EE73-3B24-7BF4-BF1107E0CBE2}"/>
                </a:ext>
              </a:extLst>
            </p:cNvPr>
            <p:cNvSpPr/>
            <p:nvPr/>
          </p:nvSpPr>
          <p:spPr bwMode="auto">
            <a:xfrm>
              <a:off x="6966583" y="260193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B6FC6C-8631-7D2C-2320-3FAF29B3D8A8}"/>
                </a:ext>
              </a:extLst>
            </p:cNvPr>
            <p:cNvSpPr/>
            <p:nvPr/>
          </p:nvSpPr>
          <p:spPr bwMode="auto">
            <a:xfrm>
              <a:off x="6300378" y="296333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9F20-5CE1-0B8D-8475-17EB7E7C590D}"/>
                </a:ext>
              </a:extLst>
            </p:cNvPr>
            <p:cNvSpPr/>
            <p:nvPr/>
          </p:nvSpPr>
          <p:spPr bwMode="auto">
            <a:xfrm>
              <a:off x="6966583" y="296333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AAF4DE-0DFA-F43A-4618-6D6E4C8A2D87}"/>
                </a:ext>
              </a:extLst>
            </p:cNvPr>
            <p:cNvSpPr/>
            <p:nvPr/>
          </p:nvSpPr>
          <p:spPr bwMode="auto">
            <a:xfrm>
              <a:off x="6300378" y="332474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C9E240-4690-9975-62A4-514D690329E3}"/>
                </a:ext>
              </a:extLst>
            </p:cNvPr>
            <p:cNvSpPr/>
            <p:nvPr/>
          </p:nvSpPr>
          <p:spPr bwMode="auto">
            <a:xfrm>
              <a:off x="6966583" y="332474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8E9BFC-370B-2F0D-A23D-57740707B098}"/>
                </a:ext>
              </a:extLst>
            </p:cNvPr>
            <p:cNvSpPr/>
            <p:nvPr/>
          </p:nvSpPr>
          <p:spPr bwMode="auto">
            <a:xfrm>
              <a:off x="6300378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9</a:t>
              </a:r>
            </a:p>
          </p:txBody>
        </p:sp>
        <p:sp>
          <p:nvSpPr>
            <p:cNvPr id="16" name="Multiplication Sign 15">
              <a:extLst>
                <a:ext uri="{FF2B5EF4-FFF2-40B4-BE49-F238E27FC236}">
                  <a16:creationId xmlns:a16="http://schemas.microsoft.com/office/drawing/2014/main" id="{314FA811-B21B-3381-F7A9-DC18E22EBC04}"/>
                </a:ext>
              </a:extLst>
            </p:cNvPr>
            <p:cNvSpPr/>
            <p:nvPr/>
          </p:nvSpPr>
          <p:spPr bwMode="auto">
            <a:xfrm>
              <a:off x="6300374" y="3279067"/>
              <a:ext cx="443696" cy="407724"/>
            </a:xfrm>
            <a:prstGeom prst="mathMultiply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A215C3-E8FD-B27E-BDF6-921A0E84E9A5}"/>
                </a:ext>
              </a:extLst>
            </p:cNvPr>
            <p:cNvSpPr/>
            <p:nvPr/>
          </p:nvSpPr>
          <p:spPr bwMode="auto">
            <a:xfrm>
              <a:off x="7721418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AFE955-7220-AC82-B41F-3C69B9F6AEAD}"/>
                </a:ext>
              </a:extLst>
            </p:cNvPr>
            <p:cNvSpPr/>
            <p:nvPr/>
          </p:nvSpPr>
          <p:spPr bwMode="auto">
            <a:xfrm>
              <a:off x="7822117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80419D-BA5B-4CDE-0445-968EB040D466}"/>
                </a:ext>
              </a:extLst>
            </p:cNvPr>
            <p:cNvSpPr/>
            <p:nvPr/>
          </p:nvSpPr>
          <p:spPr bwMode="auto">
            <a:xfrm>
              <a:off x="8488322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3B8AD5-54E3-09A9-40A7-9BDCF06481B8}"/>
                </a:ext>
              </a:extLst>
            </p:cNvPr>
            <p:cNvSpPr/>
            <p:nvPr/>
          </p:nvSpPr>
          <p:spPr bwMode="auto">
            <a:xfrm>
              <a:off x="7830826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81E1D9A-DF31-EB24-549F-4A977A4CC4F8}"/>
                </a:ext>
              </a:extLst>
            </p:cNvPr>
            <p:cNvSpPr/>
            <p:nvPr/>
          </p:nvSpPr>
          <p:spPr bwMode="auto">
            <a:xfrm>
              <a:off x="8497031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2074DE-7A01-9E8F-8223-7680DBE2F880}"/>
                </a:ext>
              </a:extLst>
            </p:cNvPr>
            <p:cNvSpPr/>
            <p:nvPr/>
          </p:nvSpPr>
          <p:spPr bwMode="auto">
            <a:xfrm>
              <a:off x="7830826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3FDCF1A-D96C-6760-CD4B-F9E13DF748F2}"/>
                </a:ext>
              </a:extLst>
            </p:cNvPr>
            <p:cNvSpPr/>
            <p:nvPr/>
          </p:nvSpPr>
          <p:spPr bwMode="auto">
            <a:xfrm>
              <a:off x="8497031" y="260193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DD54F2-B593-5787-770B-5E0BF687A3FB}"/>
                </a:ext>
              </a:extLst>
            </p:cNvPr>
            <p:cNvSpPr/>
            <p:nvPr/>
          </p:nvSpPr>
          <p:spPr bwMode="auto">
            <a:xfrm>
              <a:off x="7830826" y="296333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22A121-D4B1-8004-8F1D-BEB6E04FD20E}"/>
                </a:ext>
              </a:extLst>
            </p:cNvPr>
            <p:cNvSpPr/>
            <p:nvPr/>
          </p:nvSpPr>
          <p:spPr bwMode="auto">
            <a:xfrm>
              <a:off x="8497031" y="296333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F46A838-D48F-2857-87EA-A5193B4D4390}"/>
                </a:ext>
              </a:extLst>
            </p:cNvPr>
            <p:cNvSpPr/>
            <p:nvPr/>
          </p:nvSpPr>
          <p:spPr bwMode="auto">
            <a:xfrm>
              <a:off x="7830826" y="332474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92E25E-839F-7A1C-B1C3-9FC10BDBD925}"/>
                </a:ext>
              </a:extLst>
            </p:cNvPr>
            <p:cNvSpPr/>
            <p:nvPr/>
          </p:nvSpPr>
          <p:spPr bwMode="auto">
            <a:xfrm>
              <a:off x="8497031" y="332474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F4759E-2139-3D14-7BF2-7B6D68FB620A}"/>
                </a:ext>
              </a:extLst>
            </p:cNvPr>
            <p:cNvSpPr/>
            <p:nvPr/>
          </p:nvSpPr>
          <p:spPr bwMode="auto">
            <a:xfrm>
              <a:off x="7830826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10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9F4CBDE-5A51-05D0-D402-31443DEC238E}"/>
                </a:ext>
              </a:extLst>
            </p:cNvPr>
            <p:cNvSpPr/>
            <p:nvPr/>
          </p:nvSpPr>
          <p:spPr bwMode="auto">
            <a:xfrm>
              <a:off x="9251866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66A91A1-7201-139F-F0A1-23E8A3A7E80A}"/>
                </a:ext>
              </a:extLst>
            </p:cNvPr>
            <p:cNvSpPr/>
            <p:nvPr/>
          </p:nvSpPr>
          <p:spPr bwMode="auto">
            <a:xfrm>
              <a:off x="9352565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DA3F3F-01A2-00F1-AF0C-C3248DFF9575}"/>
                </a:ext>
              </a:extLst>
            </p:cNvPr>
            <p:cNvSpPr/>
            <p:nvPr/>
          </p:nvSpPr>
          <p:spPr bwMode="auto">
            <a:xfrm>
              <a:off x="10018770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A0A092-9A78-625B-254E-8D7F5DF19078}"/>
                </a:ext>
              </a:extLst>
            </p:cNvPr>
            <p:cNvSpPr/>
            <p:nvPr/>
          </p:nvSpPr>
          <p:spPr bwMode="auto">
            <a:xfrm>
              <a:off x="9361274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6DC1AC-A344-2F64-0AB2-35DAE0AD6198}"/>
                </a:ext>
              </a:extLst>
            </p:cNvPr>
            <p:cNvSpPr/>
            <p:nvPr/>
          </p:nvSpPr>
          <p:spPr bwMode="auto">
            <a:xfrm>
              <a:off x="10027479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9CBAB4A-3EA7-9C17-1825-DE8A6F4C5236}"/>
                </a:ext>
              </a:extLst>
            </p:cNvPr>
            <p:cNvSpPr/>
            <p:nvPr/>
          </p:nvSpPr>
          <p:spPr bwMode="auto">
            <a:xfrm>
              <a:off x="9361274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0CFB13-F6E9-683B-5C88-290F30593FA5}"/>
                </a:ext>
              </a:extLst>
            </p:cNvPr>
            <p:cNvSpPr/>
            <p:nvPr/>
          </p:nvSpPr>
          <p:spPr bwMode="auto">
            <a:xfrm>
              <a:off x="10027479" y="260193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8925B2-1B2B-D7A5-4009-5212D1129239}"/>
                </a:ext>
              </a:extLst>
            </p:cNvPr>
            <p:cNvSpPr/>
            <p:nvPr/>
          </p:nvSpPr>
          <p:spPr bwMode="auto">
            <a:xfrm>
              <a:off x="9361274" y="296333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1B26F9-B8E3-E596-765D-36D315EC7E0C}"/>
                </a:ext>
              </a:extLst>
            </p:cNvPr>
            <p:cNvSpPr/>
            <p:nvPr/>
          </p:nvSpPr>
          <p:spPr bwMode="auto">
            <a:xfrm>
              <a:off x="10027479" y="296333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36CA13-CE60-8FC8-5B07-821662F77C7E}"/>
                </a:ext>
              </a:extLst>
            </p:cNvPr>
            <p:cNvSpPr/>
            <p:nvPr/>
          </p:nvSpPr>
          <p:spPr bwMode="auto">
            <a:xfrm>
              <a:off x="9361274" y="332474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5C499ED-9FB8-7FCD-0A6B-B107820C21C9}"/>
                </a:ext>
              </a:extLst>
            </p:cNvPr>
            <p:cNvSpPr/>
            <p:nvPr/>
          </p:nvSpPr>
          <p:spPr bwMode="auto">
            <a:xfrm>
              <a:off x="10027479" y="332474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416ACBB-88FB-D437-8074-9624BE362E8B}"/>
                </a:ext>
              </a:extLst>
            </p:cNvPr>
            <p:cNvSpPr/>
            <p:nvPr/>
          </p:nvSpPr>
          <p:spPr bwMode="auto">
            <a:xfrm>
              <a:off x="9361274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10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CBC39E2-7856-62E4-26AA-9DFD8744CC9A}"/>
                </a:ext>
              </a:extLst>
            </p:cNvPr>
            <p:cNvSpPr/>
            <p:nvPr/>
          </p:nvSpPr>
          <p:spPr bwMode="auto">
            <a:xfrm>
              <a:off x="10782314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3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79545C1-5AE7-32E8-8D19-938105486777}"/>
                </a:ext>
              </a:extLst>
            </p:cNvPr>
            <p:cNvSpPr/>
            <p:nvPr/>
          </p:nvSpPr>
          <p:spPr bwMode="auto">
            <a:xfrm>
              <a:off x="10883013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9B9DDA-8923-A565-A347-A6136788057F}"/>
                </a:ext>
              </a:extLst>
            </p:cNvPr>
            <p:cNvSpPr/>
            <p:nvPr/>
          </p:nvSpPr>
          <p:spPr bwMode="auto">
            <a:xfrm>
              <a:off x="11549218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5501808-FD71-5944-27DC-260FF8A5BAA2}"/>
                </a:ext>
              </a:extLst>
            </p:cNvPr>
            <p:cNvSpPr/>
            <p:nvPr/>
          </p:nvSpPr>
          <p:spPr bwMode="auto">
            <a:xfrm>
              <a:off x="10891722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DE28C59-6868-6E38-6EEF-23CF8CC2000F}"/>
                </a:ext>
              </a:extLst>
            </p:cNvPr>
            <p:cNvSpPr/>
            <p:nvPr/>
          </p:nvSpPr>
          <p:spPr bwMode="auto">
            <a:xfrm>
              <a:off x="11557927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14935B-FED3-CCD4-8473-D92D658C3302}"/>
                </a:ext>
              </a:extLst>
            </p:cNvPr>
            <p:cNvSpPr/>
            <p:nvPr/>
          </p:nvSpPr>
          <p:spPr bwMode="auto">
            <a:xfrm>
              <a:off x="10891722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B967B7-6CF5-9EB1-3E1F-B64D217831AA}"/>
                </a:ext>
              </a:extLst>
            </p:cNvPr>
            <p:cNvSpPr/>
            <p:nvPr/>
          </p:nvSpPr>
          <p:spPr bwMode="auto">
            <a:xfrm>
              <a:off x="11557927" y="260193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449560-BB55-76DA-3D53-453F9D57982B}"/>
                </a:ext>
              </a:extLst>
            </p:cNvPr>
            <p:cNvSpPr/>
            <p:nvPr/>
          </p:nvSpPr>
          <p:spPr bwMode="auto">
            <a:xfrm>
              <a:off x="10891722" y="296333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B2A7ED8-AEE7-0FFC-AF8E-27AF1301A9D8}"/>
                </a:ext>
              </a:extLst>
            </p:cNvPr>
            <p:cNvSpPr/>
            <p:nvPr/>
          </p:nvSpPr>
          <p:spPr bwMode="auto">
            <a:xfrm>
              <a:off x="11557927" y="296333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B8F7ECA-892D-A43A-A6C7-F0A5170B8DBA}"/>
                </a:ext>
              </a:extLst>
            </p:cNvPr>
            <p:cNvSpPr/>
            <p:nvPr/>
          </p:nvSpPr>
          <p:spPr bwMode="auto">
            <a:xfrm>
              <a:off x="10891722" y="332474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D81C7A1-1B31-4670-80AA-14B6639F6972}"/>
                </a:ext>
              </a:extLst>
            </p:cNvPr>
            <p:cNvSpPr/>
            <p:nvPr/>
          </p:nvSpPr>
          <p:spPr bwMode="auto">
            <a:xfrm>
              <a:off x="11557927" y="332474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5B0B9D0-7194-6940-47B4-B2550E7C47CF}"/>
                </a:ext>
              </a:extLst>
            </p:cNvPr>
            <p:cNvSpPr/>
            <p:nvPr/>
          </p:nvSpPr>
          <p:spPr bwMode="auto">
            <a:xfrm>
              <a:off x="10891722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9</a:t>
              </a:r>
            </a:p>
          </p:txBody>
        </p:sp>
        <p:sp>
          <p:nvSpPr>
            <p:cNvPr id="55" name="Multiplication Sign 54">
              <a:extLst>
                <a:ext uri="{FF2B5EF4-FFF2-40B4-BE49-F238E27FC236}">
                  <a16:creationId xmlns:a16="http://schemas.microsoft.com/office/drawing/2014/main" id="{2D0ACC53-C1F4-5A4A-C5DF-BA23AD67FE09}"/>
                </a:ext>
              </a:extLst>
            </p:cNvPr>
            <p:cNvSpPr/>
            <p:nvPr/>
          </p:nvSpPr>
          <p:spPr bwMode="auto">
            <a:xfrm>
              <a:off x="11557927" y="3279067"/>
              <a:ext cx="443696" cy="407724"/>
            </a:xfrm>
            <a:prstGeom prst="mathMultiply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635FF23-B7EB-7DFA-F861-B4DD9C7D993A}"/>
              </a:ext>
            </a:extLst>
          </p:cNvPr>
          <p:cNvGrpSpPr/>
          <p:nvPr/>
        </p:nvGrpSpPr>
        <p:grpSpPr>
          <a:xfrm>
            <a:off x="6190970" y="4859149"/>
            <a:ext cx="1307939" cy="936213"/>
            <a:chOff x="6190970" y="4859149"/>
            <a:chExt cx="1307939" cy="936213"/>
          </a:xfrm>
        </p:grpSpPr>
        <p:sp>
          <p:nvSpPr>
            <p:cNvPr id="57" name="Arrow: Up 56">
              <a:extLst>
                <a:ext uri="{FF2B5EF4-FFF2-40B4-BE49-F238E27FC236}">
                  <a16:creationId xmlns:a16="http://schemas.microsoft.com/office/drawing/2014/main" id="{5E67523A-7250-DFDD-9AC9-18601DB904B9}"/>
                </a:ext>
              </a:extLst>
            </p:cNvPr>
            <p:cNvSpPr/>
            <p:nvPr/>
          </p:nvSpPr>
          <p:spPr bwMode="auto">
            <a:xfrm>
              <a:off x="6586462" y="4859149"/>
              <a:ext cx="504243" cy="397777"/>
            </a:xfrm>
            <a:prstGeom prst="upArrow">
              <a:avLst>
                <a:gd name="adj1" fmla="val 42798"/>
                <a:gd name="adj2" fmla="val 44256"/>
              </a:avLst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1713ED4-043F-B4C8-CDBC-347060AD5C9F}"/>
                </a:ext>
              </a:extLst>
            </p:cNvPr>
            <p:cNvSpPr/>
            <p:nvPr/>
          </p:nvSpPr>
          <p:spPr bwMode="auto">
            <a:xfrm>
              <a:off x="6190970" y="5317417"/>
              <a:ext cx="1307939" cy="477945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Dispatch dummy WG,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/>
                <a:t>counter == 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41F7AF1-D678-B351-B24F-07BA25C6159F}"/>
              </a:ext>
            </a:extLst>
          </p:cNvPr>
          <p:cNvGrpSpPr/>
          <p:nvPr/>
        </p:nvGrpSpPr>
        <p:grpSpPr>
          <a:xfrm>
            <a:off x="10782314" y="4857205"/>
            <a:ext cx="1307939" cy="936213"/>
            <a:chOff x="10782314" y="4857205"/>
            <a:chExt cx="1307939" cy="936213"/>
          </a:xfrm>
        </p:grpSpPr>
        <p:sp>
          <p:nvSpPr>
            <p:cNvPr id="60" name="Arrow: Up 59">
              <a:extLst>
                <a:ext uri="{FF2B5EF4-FFF2-40B4-BE49-F238E27FC236}">
                  <a16:creationId xmlns:a16="http://schemas.microsoft.com/office/drawing/2014/main" id="{13390009-0FC1-9F25-1EA2-6C3A7DB97480}"/>
                </a:ext>
              </a:extLst>
            </p:cNvPr>
            <p:cNvSpPr/>
            <p:nvPr/>
          </p:nvSpPr>
          <p:spPr bwMode="auto">
            <a:xfrm>
              <a:off x="11177806" y="4857205"/>
              <a:ext cx="504243" cy="397777"/>
            </a:xfrm>
            <a:prstGeom prst="upArrow">
              <a:avLst>
                <a:gd name="adj1" fmla="val 42798"/>
                <a:gd name="adj2" fmla="val 44256"/>
              </a:avLst>
            </a:prstGeom>
            <a:solidFill>
              <a:srgbClr val="0070C0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E9959A3-2A2E-8C79-DA32-31D19E59FA05}"/>
                </a:ext>
              </a:extLst>
            </p:cNvPr>
            <p:cNvSpPr/>
            <p:nvPr/>
          </p:nvSpPr>
          <p:spPr bwMode="auto">
            <a:xfrm>
              <a:off x="10782314" y="5315473"/>
              <a:ext cx="1307939" cy="477945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Dispatch dummy WG,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/>
                <a:t>counter == 0</a:t>
              </a:r>
            </a:p>
          </p:txBody>
        </p:sp>
      </p:grpSp>
      <p:sp>
        <p:nvSpPr>
          <p:cNvPr id="64" name="Arrow: Down 63">
            <a:extLst>
              <a:ext uri="{FF2B5EF4-FFF2-40B4-BE49-F238E27FC236}">
                <a16:creationId xmlns:a16="http://schemas.microsoft.com/office/drawing/2014/main" id="{555EB7A7-3233-60F8-BA8B-4FEB1BC3BD25}"/>
              </a:ext>
            </a:extLst>
          </p:cNvPr>
          <p:cNvSpPr/>
          <p:nvPr/>
        </p:nvSpPr>
        <p:spPr bwMode="auto">
          <a:xfrm>
            <a:off x="11213534" y="1369797"/>
            <a:ext cx="432785" cy="548079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878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8DC8-D62F-0612-0312-03E5390B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42E8-E717-8BEB-304A-B1E98C25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Workgroup Dispatching w/ CU Masking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59203-E49A-7BA8-E189-F63812D6E3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5509610" cy="4831840"/>
          </a:xfrm>
        </p:spPr>
        <p:txBody>
          <a:bodyPr anchor="ctr"/>
          <a:lstStyle/>
          <a:p>
            <a:r>
              <a:rPr lang="en-US"/>
              <a:t>Assuming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grid of 19 WGs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starting to dispatch from SE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only 19 CUs available, via </a:t>
            </a:r>
            <a:r>
              <a:rPr lang="en-US" b="1"/>
              <a:t>CU masking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/>
              <a:t>SE0 – 5 CUs, SE1 – 5 CUs, SE2 – 5 CUs, SE3 – 4 CUs,</a:t>
            </a:r>
          </a:p>
          <a:p>
            <a:endParaRPr lang="en-US"/>
          </a:p>
          <a:p>
            <a:r>
              <a:rPr lang="en-US"/>
              <a:t>Counters are still initialized from CC_GC_SHADER_ARRAY_CONFIG, which does not consider the CU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counters will never reach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dummy WGs are not dispatched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After 4 WGs are dispatched to all 4 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SE3 will have no CU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but no dummy WG will be dispatched to SE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SE 3 counter will be 5 != 0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2FE700-FDCB-F179-5D8B-451FE6512E55}"/>
              </a:ext>
            </a:extLst>
          </p:cNvPr>
          <p:cNvGrpSpPr/>
          <p:nvPr/>
        </p:nvGrpSpPr>
        <p:grpSpPr>
          <a:xfrm>
            <a:off x="6190970" y="2045826"/>
            <a:ext cx="5899283" cy="2766349"/>
            <a:chOff x="6190970" y="1434370"/>
            <a:chExt cx="5899283" cy="276634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F81B2F-77E8-371D-B4F9-359DEBD90353}"/>
                </a:ext>
              </a:extLst>
            </p:cNvPr>
            <p:cNvSpPr/>
            <p:nvPr/>
          </p:nvSpPr>
          <p:spPr bwMode="auto">
            <a:xfrm>
              <a:off x="6190970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6634AD-993C-0D5F-19D1-2BFBA7BC8474}"/>
                </a:ext>
              </a:extLst>
            </p:cNvPr>
            <p:cNvSpPr/>
            <p:nvPr/>
          </p:nvSpPr>
          <p:spPr bwMode="auto">
            <a:xfrm>
              <a:off x="6291669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6F8B1B-8B22-E394-3A09-65C64B89CEEA}"/>
                </a:ext>
              </a:extLst>
            </p:cNvPr>
            <p:cNvSpPr/>
            <p:nvPr/>
          </p:nvSpPr>
          <p:spPr bwMode="auto">
            <a:xfrm>
              <a:off x="6957874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6BBA10-F5DE-0D17-796E-5C73B5AC1F4D}"/>
                </a:ext>
              </a:extLst>
            </p:cNvPr>
            <p:cNvSpPr/>
            <p:nvPr/>
          </p:nvSpPr>
          <p:spPr bwMode="auto">
            <a:xfrm>
              <a:off x="6300378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928BC8-587C-6D0D-AA7B-1B2F6BF623CB}"/>
                </a:ext>
              </a:extLst>
            </p:cNvPr>
            <p:cNvSpPr/>
            <p:nvPr/>
          </p:nvSpPr>
          <p:spPr bwMode="auto">
            <a:xfrm>
              <a:off x="6966583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85A1A4-D53A-D683-5321-37779DD84EFD}"/>
                </a:ext>
              </a:extLst>
            </p:cNvPr>
            <p:cNvSpPr/>
            <p:nvPr/>
          </p:nvSpPr>
          <p:spPr bwMode="auto">
            <a:xfrm>
              <a:off x="6300378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BF4974-4277-12CE-2A78-AA9E1D994761}"/>
                </a:ext>
              </a:extLst>
            </p:cNvPr>
            <p:cNvSpPr/>
            <p:nvPr/>
          </p:nvSpPr>
          <p:spPr bwMode="auto">
            <a:xfrm>
              <a:off x="6966583" y="260193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DC1BC9-CFC3-6CD1-55E6-38067FC9BF15}"/>
                </a:ext>
              </a:extLst>
            </p:cNvPr>
            <p:cNvSpPr/>
            <p:nvPr/>
          </p:nvSpPr>
          <p:spPr bwMode="auto">
            <a:xfrm>
              <a:off x="6300378" y="2963338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A45BF9-3270-57A9-A515-EC9C959A9B6F}"/>
                </a:ext>
              </a:extLst>
            </p:cNvPr>
            <p:cNvSpPr/>
            <p:nvPr/>
          </p:nvSpPr>
          <p:spPr bwMode="auto">
            <a:xfrm>
              <a:off x="6966583" y="2963337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1F5C23-3BEA-D085-B8AB-CA0C704BA32F}"/>
                </a:ext>
              </a:extLst>
            </p:cNvPr>
            <p:cNvSpPr/>
            <p:nvPr/>
          </p:nvSpPr>
          <p:spPr bwMode="auto">
            <a:xfrm>
              <a:off x="6300378" y="332474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31C934-38F6-10FE-6FED-FD5133232B8B}"/>
                </a:ext>
              </a:extLst>
            </p:cNvPr>
            <p:cNvSpPr/>
            <p:nvPr/>
          </p:nvSpPr>
          <p:spPr bwMode="auto">
            <a:xfrm>
              <a:off x="6966583" y="332474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648E46-3AE7-1459-571B-B08BA202F38C}"/>
                </a:ext>
              </a:extLst>
            </p:cNvPr>
            <p:cNvSpPr/>
            <p:nvPr/>
          </p:nvSpPr>
          <p:spPr bwMode="auto">
            <a:xfrm>
              <a:off x="6300378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9</a:t>
              </a:r>
            </a:p>
          </p:txBody>
        </p:sp>
        <p:sp>
          <p:nvSpPr>
            <p:cNvPr id="16" name="Multiplication Sign 15">
              <a:extLst>
                <a:ext uri="{FF2B5EF4-FFF2-40B4-BE49-F238E27FC236}">
                  <a16:creationId xmlns:a16="http://schemas.microsoft.com/office/drawing/2014/main" id="{BCB693BA-254B-7D92-CBEF-B8EADA146EE0}"/>
                </a:ext>
              </a:extLst>
            </p:cNvPr>
            <p:cNvSpPr/>
            <p:nvPr/>
          </p:nvSpPr>
          <p:spPr bwMode="auto">
            <a:xfrm>
              <a:off x="6300374" y="3279067"/>
              <a:ext cx="443696" cy="407724"/>
            </a:xfrm>
            <a:prstGeom prst="mathMultiply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87EE0DA-92D8-73F5-FB1D-32D8DEC0F5CF}"/>
                </a:ext>
              </a:extLst>
            </p:cNvPr>
            <p:cNvSpPr/>
            <p:nvPr/>
          </p:nvSpPr>
          <p:spPr bwMode="auto">
            <a:xfrm>
              <a:off x="7721418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B678BA4-7F87-CA2C-70F2-E605CA19250E}"/>
                </a:ext>
              </a:extLst>
            </p:cNvPr>
            <p:cNvSpPr/>
            <p:nvPr/>
          </p:nvSpPr>
          <p:spPr bwMode="auto">
            <a:xfrm>
              <a:off x="7822117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E61D09-4062-6633-722D-FFE564FEDDEB}"/>
                </a:ext>
              </a:extLst>
            </p:cNvPr>
            <p:cNvSpPr/>
            <p:nvPr/>
          </p:nvSpPr>
          <p:spPr bwMode="auto">
            <a:xfrm>
              <a:off x="8488322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50910D-20FC-A852-F421-6657CA06A603}"/>
                </a:ext>
              </a:extLst>
            </p:cNvPr>
            <p:cNvSpPr/>
            <p:nvPr/>
          </p:nvSpPr>
          <p:spPr bwMode="auto">
            <a:xfrm>
              <a:off x="7830826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A6E57E-F455-03C1-15FA-D6BFB4C7C891}"/>
                </a:ext>
              </a:extLst>
            </p:cNvPr>
            <p:cNvSpPr/>
            <p:nvPr/>
          </p:nvSpPr>
          <p:spPr bwMode="auto">
            <a:xfrm>
              <a:off x="8497031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89421BC-26DD-352B-C0DA-94998FEDD1C9}"/>
                </a:ext>
              </a:extLst>
            </p:cNvPr>
            <p:cNvSpPr/>
            <p:nvPr/>
          </p:nvSpPr>
          <p:spPr bwMode="auto">
            <a:xfrm>
              <a:off x="7830826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B56C39-E652-BA77-F527-3B418D555AE0}"/>
                </a:ext>
              </a:extLst>
            </p:cNvPr>
            <p:cNvSpPr/>
            <p:nvPr/>
          </p:nvSpPr>
          <p:spPr bwMode="auto">
            <a:xfrm>
              <a:off x="8497031" y="260193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D41072-DA54-C20C-DA3C-E336D811A24D}"/>
                </a:ext>
              </a:extLst>
            </p:cNvPr>
            <p:cNvSpPr/>
            <p:nvPr/>
          </p:nvSpPr>
          <p:spPr bwMode="auto">
            <a:xfrm>
              <a:off x="7830826" y="2963338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5C6F7F-C374-E5C1-4345-2ED72CC92071}"/>
                </a:ext>
              </a:extLst>
            </p:cNvPr>
            <p:cNvSpPr/>
            <p:nvPr/>
          </p:nvSpPr>
          <p:spPr bwMode="auto">
            <a:xfrm>
              <a:off x="8497031" y="2963337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AF74D4F-0974-9F95-363D-1CA62757BFB4}"/>
                </a:ext>
              </a:extLst>
            </p:cNvPr>
            <p:cNvSpPr/>
            <p:nvPr/>
          </p:nvSpPr>
          <p:spPr bwMode="auto">
            <a:xfrm>
              <a:off x="7830826" y="3324743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9B798F-9FEE-30F2-E36A-9747D9FCA542}"/>
                </a:ext>
              </a:extLst>
            </p:cNvPr>
            <p:cNvSpPr/>
            <p:nvPr/>
          </p:nvSpPr>
          <p:spPr bwMode="auto">
            <a:xfrm>
              <a:off x="8497031" y="332474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963328-ED74-210D-6B77-EE8E11F98A06}"/>
                </a:ext>
              </a:extLst>
            </p:cNvPr>
            <p:cNvSpPr/>
            <p:nvPr/>
          </p:nvSpPr>
          <p:spPr bwMode="auto">
            <a:xfrm>
              <a:off x="7830826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10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FE28754-77B0-917B-4CCF-95ACCB1FF357}"/>
                </a:ext>
              </a:extLst>
            </p:cNvPr>
            <p:cNvSpPr/>
            <p:nvPr/>
          </p:nvSpPr>
          <p:spPr bwMode="auto">
            <a:xfrm>
              <a:off x="9251866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19AB138-A625-5152-F60C-4AEC54CCCBED}"/>
                </a:ext>
              </a:extLst>
            </p:cNvPr>
            <p:cNvSpPr/>
            <p:nvPr/>
          </p:nvSpPr>
          <p:spPr bwMode="auto">
            <a:xfrm>
              <a:off x="9352565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502DBA-9D9A-9533-ADB0-FF50858339C1}"/>
                </a:ext>
              </a:extLst>
            </p:cNvPr>
            <p:cNvSpPr/>
            <p:nvPr/>
          </p:nvSpPr>
          <p:spPr bwMode="auto">
            <a:xfrm>
              <a:off x="10018770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DA2784-38DE-C800-9B1D-67E5C17F76E2}"/>
                </a:ext>
              </a:extLst>
            </p:cNvPr>
            <p:cNvSpPr/>
            <p:nvPr/>
          </p:nvSpPr>
          <p:spPr bwMode="auto">
            <a:xfrm>
              <a:off x="9361274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B55E4C-4E87-0B69-231B-48F5AC52A6FA}"/>
                </a:ext>
              </a:extLst>
            </p:cNvPr>
            <p:cNvSpPr/>
            <p:nvPr/>
          </p:nvSpPr>
          <p:spPr bwMode="auto">
            <a:xfrm>
              <a:off x="10027479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264862E-607C-52AC-609A-F000AD1E5525}"/>
                </a:ext>
              </a:extLst>
            </p:cNvPr>
            <p:cNvSpPr/>
            <p:nvPr/>
          </p:nvSpPr>
          <p:spPr bwMode="auto">
            <a:xfrm>
              <a:off x="9361274" y="2601933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576F93-6079-059A-F8A2-F12879698198}"/>
                </a:ext>
              </a:extLst>
            </p:cNvPr>
            <p:cNvSpPr/>
            <p:nvPr/>
          </p:nvSpPr>
          <p:spPr bwMode="auto">
            <a:xfrm>
              <a:off x="10027479" y="260193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13589B8-1B42-A966-7BE6-75478EB71D3B}"/>
                </a:ext>
              </a:extLst>
            </p:cNvPr>
            <p:cNvSpPr/>
            <p:nvPr/>
          </p:nvSpPr>
          <p:spPr bwMode="auto">
            <a:xfrm>
              <a:off x="9361274" y="2963338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487684-8E21-6610-46A8-4370C151B8AE}"/>
                </a:ext>
              </a:extLst>
            </p:cNvPr>
            <p:cNvSpPr/>
            <p:nvPr/>
          </p:nvSpPr>
          <p:spPr bwMode="auto">
            <a:xfrm>
              <a:off x="10027479" y="2963337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08A931A-0BAD-B1F1-6F3E-367B6EB115D4}"/>
                </a:ext>
              </a:extLst>
            </p:cNvPr>
            <p:cNvSpPr/>
            <p:nvPr/>
          </p:nvSpPr>
          <p:spPr bwMode="auto">
            <a:xfrm>
              <a:off x="9361274" y="3324743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52DBA4D-27C5-423F-9C45-739992EB4276}"/>
                </a:ext>
              </a:extLst>
            </p:cNvPr>
            <p:cNvSpPr/>
            <p:nvPr/>
          </p:nvSpPr>
          <p:spPr bwMode="auto">
            <a:xfrm>
              <a:off x="10027479" y="332474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ADD46A4-0FF4-0066-724C-752BDBB73516}"/>
                </a:ext>
              </a:extLst>
            </p:cNvPr>
            <p:cNvSpPr/>
            <p:nvPr/>
          </p:nvSpPr>
          <p:spPr bwMode="auto">
            <a:xfrm>
              <a:off x="9361274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10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BEF410-B7A2-829E-CBD7-7B3A4A192DE1}"/>
                </a:ext>
              </a:extLst>
            </p:cNvPr>
            <p:cNvSpPr/>
            <p:nvPr/>
          </p:nvSpPr>
          <p:spPr bwMode="auto">
            <a:xfrm>
              <a:off x="10782314" y="1434370"/>
              <a:ext cx="1307939" cy="276634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SE 3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FA680B-25B1-1054-E38C-F085A36BAC84}"/>
                </a:ext>
              </a:extLst>
            </p:cNvPr>
            <p:cNvSpPr/>
            <p:nvPr/>
          </p:nvSpPr>
          <p:spPr bwMode="auto">
            <a:xfrm>
              <a:off x="10883013" y="187912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4512348-FE38-ACD9-E6A3-D9E329720E69}"/>
                </a:ext>
              </a:extLst>
            </p:cNvPr>
            <p:cNvSpPr/>
            <p:nvPr/>
          </p:nvSpPr>
          <p:spPr bwMode="auto">
            <a:xfrm>
              <a:off x="11549218" y="1879121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DB3CFA8-AF58-9D0F-9605-185028412F84}"/>
                </a:ext>
              </a:extLst>
            </p:cNvPr>
            <p:cNvSpPr/>
            <p:nvPr/>
          </p:nvSpPr>
          <p:spPr bwMode="auto">
            <a:xfrm>
              <a:off x="10891722" y="2240528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7029ED2-431A-B9EF-F53C-59F41B709509}"/>
                </a:ext>
              </a:extLst>
            </p:cNvPr>
            <p:cNvSpPr/>
            <p:nvPr/>
          </p:nvSpPr>
          <p:spPr bwMode="auto">
            <a:xfrm>
              <a:off x="11557927" y="2240527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46BAA43-41D5-F11F-E10B-B54CB77F14C1}"/>
                </a:ext>
              </a:extLst>
            </p:cNvPr>
            <p:cNvSpPr/>
            <p:nvPr/>
          </p:nvSpPr>
          <p:spPr bwMode="auto">
            <a:xfrm>
              <a:off x="10891722" y="2601933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EFB409-A0B2-3082-A228-472CC12432A9}"/>
                </a:ext>
              </a:extLst>
            </p:cNvPr>
            <p:cNvSpPr/>
            <p:nvPr/>
          </p:nvSpPr>
          <p:spPr bwMode="auto">
            <a:xfrm>
              <a:off x="11557927" y="2601932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09CD769-D3E8-A107-38F3-E733227EB0E2}"/>
                </a:ext>
              </a:extLst>
            </p:cNvPr>
            <p:cNvSpPr/>
            <p:nvPr/>
          </p:nvSpPr>
          <p:spPr bwMode="auto">
            <a:xfrm>
              <a:off x="10891722" y="2963338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8E058C3-FD69-2C1A-7405-286BEBB14056}"/>
                </a:ext>
              </a:extLst>
            </p:cNvPr>
            <p:cNvSpPr/>
            <p:nvPr/>
          </p:nvSpPr>
          <p:spPr bwMode="auto">
            <a:xfrm>
              <a:off x="11557927" y="2963337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86DF0E-5313-C1C2-7FB0-225D322089A8}"/>
                </a:ext>
              </a:extLst>
            </p:cNvPr>
            <p:cNvSpPr/>
            <p:nvPr/>
          </p:nvSpPr>
          <p:spPr bwMode="auto">
            <a:xfrm>
              <a:off x="10891722" y="3324743"/>
              <a:ext cx="443696" cy="316375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775158-900D-C8A2-DA1A-41DD484A2BA9}"/>
                </a:ext>
              </a:extLst>
            </p:cNvPr>
            <p:cNvSpPr/>
            <p:nvPr/>
          </p:nvSpPr>
          <p:spPr bwMode="auto">
            <a:xfrm>
              <a:off x="11557927" y="3324742"/>
              <a:ext cx="443696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CU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529C127-9C88-C938-C6F7-C514957CF597}"/>
                </a:ext>
              </a:extLst>
            </p:cNvPr>
            <p:cNvSpPr/>
            <p:nvPr/>
          </p:nvSpPr>
          <p:spPr bwMode="auto">
            <a:xfrm>
              <a:off x="10891722" y="3748672"/>
              <a:ext cx="1101191" cy="3163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counter = 9</a:t>
              </a:r>
            </a:p>
          </p:txBody>
        </p:sp>
        <p:sp>
          <p:nvSpPr>
            <p:cNvPr id="55" name="Multiplication Sign 54">
              <a:extLst>
                <a:ext uri="{FF2B5EF4-FFF2-40B4-BE49-F238E27FC236}">
                  <a16:creationId xmlns:a16="http://schemas.microsoft.com/office/drawing/2014/main" id="{A4D74636-B51D-63DD-1FDA-CF618393FBBC}"/>
                </a:ext>
              </a:extLst>
            </p:cNvPr>
            <p:cNvSpPr/>
            <p:nvPr/>
          </p:nvSpPr>
          <p:spPr bwMode="auto">
            <a:xfrm>
              <a:off x="11557927" y="3279067"/>
              <a:ext cx="443696" cy="407724"/>
            </a:xfrm>
            <a:prstGeom prst="mathMultiply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8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5BE8C00-F8D6-9425-4FBA-BAB1922CDA7E}"/>
              </a:ext>
            </a:extLst>
          </p:cNvPr>
          <p:cNvSpPr txBox="1"/>
          <p:nvPr/>
        </p:nvSpPr>
        <p:spPr>
          <a:xfrm>
            <a:off x="6190970" y="5267512"/>
            <a:ext cx="589928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1"/>
              </a:buClr>
              <a:buSzPct val="60000"/>
            </a:pPr>
            <a:r>
              <a:rPr lang="en-US" sz="1800">
                <a:solidFill>
                  <a:srgbClr val="FF0000"/>
                </a:solidFill>
              </a:rPr>
              <a:t>The baton will not be passed to the next SE/SPI!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1800">
                <a:solidFill>
                  <a:srgbClr val="FF0000"/>
                </a:solidFill>
              </a:rPr>
              <a:t>WG dispatching will stop at SE3, after 4 WGs/SE!</a:t>
            </a:r>
          </a:p>
          <a:p>
            <a:pPr algn="ctr">
              <a:buClr>
                <a:schemeClr val="accent1"/>
              </a:buClr>
              <a:buSzPct val="60000"/>
            </a:pPr>
            <a:r>
              <a:rPr lang="en-US" sz="1800">
                <a:solidFill>
                  <a:srgbClr val="FF0000"/>
                </a:solidFill>
              </a:rPr>
              <a:t>However, SE[0, 1, 2] each have one CU available!</a:t>
            </a: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D8A2B102-6A4A-28DC-102B-F4E13FAC7318}"/>
              </a:ext>
            </a:extLst>
          </p:cNvPr>
          <p:cNvSpPr/>
          <p:nvPr/>
        </p:nvSpPr>
        <p:spPr bwMode="auto">
          <a:xfrm>
            <a:off x="11219890" y="1384590"/>
            <a:ext cx="432785" cy="548079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5685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9D69-500C-417F-53ED-DEC31AF4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Stealing-based GEMM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B588F-1FEE-B187-124E-084057DCDC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5348" y="1434370"/>
            <a:ext cx="5393170" cy="4831840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triton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jit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err="1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ws_matmul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 ...):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tl</a:t>
            </a:r>
            <a:r>
              <a:rPr lang="en-US" sz="1200" b="0" err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err="1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program_id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i="1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# Per-XCD work-stealing with multiple counter slots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i="1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# PIDs are round-robin across XCDs: 0→XCD0, 1→XCD1, …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xcd_id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NUM_XCDS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local_wg_id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NUM_XCDS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# WG index within this XCD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slot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rgbClr val="87C3FF"/>
                </a:solidFill>
                <a:effectLst/>
                <a:latin typeface="Consolas" panose="020B0609020204030204" pitchFamily="49" charset="0"/>
              </a:rPr>
              <a:t>local_wg_id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200" b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COUNTERS_PER_XCD</a:t>
            </a:r>
            <a:endParaRPr lang="en-US" sz="1200" b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Partition tiles into contiguous per-XCD regions.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tiles_per_xcd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CCCCCC"/>
                </a:solidFill>
                <a:latin typeface="Consolas" panose="020B0609020204030204" pitchFamily="49" charset="0"/>
              </a:rPr>
              <a:t>tl</a:t>
            </a:r>
            <a:r>
              <a:rPr lang="en-US" sz="1200" err="1">
                <a:solidFill>
                  <a:srgbClr val="D6D6DD"/>
                </a:solidFill>
                <a:latin typeface="Consolas" panose="020B0609020204030204" pitchFamily="49" charset="0"/>
              </a:rPr>
              <a:t>.</a:t>
            </a:r>
            <a:r>
              <a:rPr lang="en-US" sz="1200" err="1">
                <a:solidFill>
                  <a:srgbClr val="EBC88D"/>
                </a:solidFill>
                <a:latin typeface="Consolas" panose="020B0609020204030204" pitchFamily="49" charset="0"/>
              </a:rPr>
              <a:t>cdiv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total_tiles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i="1">
                <a:solidFill>
                  <a:srgbClr val="D6D6DD"/>
                </a:solidFill>
                <a:latin typeface="Consolas" panose="020B0609020204030204" pitchFamily="49" charset="0"/>
              </a:rPr>
              <a:t>NUM_XCDS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xcd_id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*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tiles_per_xcd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xcd_end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CCCCCC"/>
                </a:solidFill>
                <a:latin typeface="Consolas" panose="020B0609020204030204" pitchFamily="49" charset="0"/>
              </a:rPr>
              <a:t>tl</a:t>
            </a:r>
            <a:r>
              <a:rPr lang="en-US" sz="1200" err="1">
                <a:solidFill>
                  <a:srgbClr val="D6D6DD"/>
                </a:solidFill>
                <a:latin typeface="Consolas" panose="020B0609020204030204" pitchFamily="49" charset="0"/>
              </a:rPr>
              <a:t>.</a:t>
            </a:r>
            <a:r>
              <a:rPr lang="en-US" sz="1200" err="1">
                <a:solidFill>
                  <a:srgbClr val="EBC88D"/>
                </a:solidFill>
                <a:latin typeface="Consolas" panose="020B0609020204030204" pitchFamily="49" charset="0"/>
              </a:rPr>
              <a:t>minimum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tiles_per_xcd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total_tiles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tiles_this_xcd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xcd_end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-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xcd_base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endParaRPr lang="en-US" sz="1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1D1A9-8354-A3E4-C2BB-4863019BE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6818" y="591790"/>
            <a:ext cx="5989834" cy="5322014"/>
          </a:xfrm>
        </p:spPr>
        <p:txBody>
          <a:bodyPr/>
          <a:lstStyle/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Sub-partition within the XCD across COUNTERS_PER_XCD slots.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tiles_per_slot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CCCCCC"/>
                </a:solidFill>
                <a:latin typeface="Consolas" panose="020B0609020204030204" pitchFamily="49" charset="0"/>
              </a:rPr>
              <a:t>tl</a:t>
            </a:r>
            <a:r>
              <a:rPr lang="en-US" sz="1200" err="1">
                <a:solidFill>
                  <a:srgbClr val="D6D6DD"/>
                </a:solidFill>
                <a:latin typeface="Consolas" panose="020B0609020204030204" pitchFamily="49" charset="0"/>
              </a:rPr>
              <a:t>.</a:t>
            </a:r>
            <a:r>
              <a:rPr lang="en-US" sz="1200" err="1">
                <a:solidFill>
                  <a:srgbClr val="EBC88D"/>
                </a:solidFill>
                <a:latin typeface="Consolas" panose="020B0609020204030204" pitchFamily="49" charset="0"/>
              </a:rPr>
              <a:t>cdiv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tiles_this_xcd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i="1">
                <a:solidFill>
                  <a:srgbClr val="D6D6DD"/>
                </a:solidFill>
                <a:latin typeface="Consolas" panose="020B0609020204030204" pitchFamily="49" charset="0"/>
              </a:rPr>
              <a:t>COUNTERS_PER_XCD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87C3FF"/>
                </a:solidFill>
                <a:latin typeface="Consolas" panose="020B0609020204030204" pitchFamily="49" charset="0"/>
              </a:rPr>
              <a:t>slot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*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tiles_per_slot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relative to </a:t>
            </a:r>
            <a:r>
              <a:rPr lang="en-US" sz="1200" i="1" err="1">
                <a:solidFill>
                  <a:srgbClr val="E4E4E4"/>
                </a:solidFill>
                <a:latin typeface="Consolas" panose="020B0609020204030204" pitchFamily="49" charset="0"/>
              </a:rPr>
              <a:t>xcd_base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slot_end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CCCCCC"/>
                </a:solidFill>
                <a:latin typeface="Consolas" panose="020B0609020204030204" pitchFamily="49" charset="0"/>
              </a:rPr>
              <a:t>tl</a:t>
            </a:r>
            <a:r>
              <a:rPr lang="en-US" sz="1200" err="1">
                <a:solidFill>
                  <a:srgbClr val="D6D6DD"/>
                </a:solidFill>
                <a:latin typeface="Consolas" panose="020B0609020204030204" pitchFamily="49" charset="0"/>
              </a:rPr>
              <a:t>.</a:t>
            </a:r>
            <a:r>
              <a:rPr lang="en-US" sz="1200" err="1">
                <a:solidFill>
                  <a:srgbClr val="EBC88D"/>
                </a:solidFill>
                <a:latin typeface="Consolas" panose="020B0609020204030204" pitchFamily="49" charset="0"/>
              </a:rPr>
              <a:t>minimum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(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tiles_per_slot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tiles_this_xcd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tiles_this_slot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slot_end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-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slot_base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</a:b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Counter for this XCD + slot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counter_ptr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i="1" err="1">
                <a:solidFill>
                  <a:srgbClr val="D6D6DD"/>
                </a:solidFill>
                <a:latin typeface="Consolas" panose="020B0609020204030204" pitchFamily="49" charset="0"/>
              </a:rPr>
              <a:t>tile_counter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xcd_id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*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i="1">
                <a:solidFill>
                  <a:srgbClr val="D6D6DD"/>
                </a:solidFill>
                <a:latin typeface="Consolas" panose="020B0609020204030204" pitchFamily="49" charset="0"/>
              </a:rPr>
              <a:t>COUNTERS_PER_XCD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87C3FF"/>
                </a:solidFill>
                <a:latin typeface="Consolas" panose="020B0609020204030204" pitchFamily="49" charset="0"/>
              </a:rPr>
              <a:t>slot</a:t>
            </a:r>
            <a:br>
              <a:rPr lang="en-US" sz="1200">
                <a:solidFill>
                  <a:srgbClr val="87C3FF"/>
                </a:solidFill>
                <a:latin typeface="Consolas" panose="020B0609020204030204" pitchFamily="49" charset="0"/>
              </a:rPr>
            </a:b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err="1">
                <a:solidFill>
                  <a:srgbClr val="87C3FF"/>
                </a:solidFill>
                <a:latin typeface="Consolas" panose="020B0609020204030204" pitchFamily="49" charset="0"/>
              </a:rPr>
              <a:t>local_tile_idx</a:t>
            </a:r>
            <a:r>
              <a:rPr lang="en-US" sz="1200" b="1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b="1" err="1">
                <a:solidFill>
                  <a:srgbClr val="CCCCCC"/>
                </a:solidFill>
                <a:latin typeface="Consolas" panose="020B0609020204030204" pitchFamily="49" charset="0"/>
              </a:rPr>
              <a:t>tl</a:t>
            </a:r>
            <a:r>
              <a:rPr lang="en-US" sz="1200" b="1" err="1">
                <a:solidFill>
                  <a:srgbClr val="D6D6DD"/>
                </a:solidFill>
                <a:latin typeface="Consolas" panose="020B0609020204030204" pitchFamily="49" charset="0"/>
              </a:rPr>
              <a:t>.</a:t>
            </a:r>
            <a:r>
              <a:rPr lang="en-US" sz="1200" b="1" err="1">
                <a:solidFill>
                  <a:srgbClr val="EBC88D"/>
                </a:solidFill>
                <a:latin typeface="Consolas" panose="020B0609020204030204" pitchFamily="49" charset="0"/>
              </a:rPr>
              <a:t>atomic_add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(</a:t>
            </a:r>
            <a:r>
              <a:rPr lang="en-US" sz="1200" b="1" err="1">
                <a:solidFill>
                  <a:srgbClr val="87C3FF"/>
                </a:solidFill>
                <a:latin typeface="Consolas" panose="020B0609020204030204" pitchFamily="49" charset="0"/>
              </a:rPr>
              <a:t>counter_ptr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 b="1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EBC88D"/>
                </a:solidFill>
                <a:latin typeface="Consolas" panose="020B0609020204030204" pitchFamily="49" charset="0"/>
              </a:rPr>
              <a:t>1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,</a:t>
            </a:r>
            <a:r>
              <a:rPr lang="en-US" sz="1200" b="1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b="1" i="1">
                <a:solidFill>
                  <a:srgbClr val="D6D6DD"/>
                </a:solidFill>
                <a:latin typeface="Consolas" panose="020B0609020204030204" pitchFamily="49" charset="0"/>
              </a:rPr>
              <a:t>scope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E394DC"/>
                </a:solidFill>
                <a:latin typeface="Consolas" panose="020B0609020204030204" pitchFamily="49" charset="0"/>
              </a:rPr>
              <a:t>"</a:t>
            </a:r>
            <a:r>
              <a:rPr lang="en-US" sz="1200" b="1" err="1">
                <a:solidFill>
                  <a:srgbClr val="E394DC"/>
                </a:solidFill>
                <a:latin typeface="Consolas" panose="020B0609020204030204" pitchFamily="49" charset="0"/>
              </a:rPr>
              <a:t>gpu</a:t>
            </a:r>
            <a:r>
              <a:rPr lang="en-US" sz="1200" b="1">
                <a:solidFill>
                  <a:srgbClr val="E394DC"/>
                </a:solidFill>
                <a:latin typeface="Consolas" panose="020B0609020204030204" pitchFamily="49" charset="0"/>
              </a:rPr>
              <a:t>"</a:t>
            </a:r>
            <a:r>
              <a:rPr lang="en-US" sz="1200" b="1">
                <a:solidFill>
                  <a:srgbClr val="D6D6DD"/>
                </a:solidFill>
                <a:latin typeface="Consolas" panose="020B0609020204030204" pitchFamily="49" charset="0"/>
              </a:rPr>
              <a:t>)</a:t>
            </a:r>
            <a:endParaRPr lang="en-US" sz="1200" b="1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</a:b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</a:t>
            </a:r>
            <a:r>
              <a:rPr lang="en-US" sz="1200" i="1">
                <a:solidFill>
                  <a:srgbClr val="82D2CE"/>
                </a:solidFill>
                <a:latin typeface="Consolas" panose="020B0609020204030204" pitchFamily="49" charset="0"/>
              </a:rPr>
              <a:t>while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local_tile_idx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&lt;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tiles_this_slot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Map slot-local index → global </a:t>
            </a:r>
            <a:r>
              <a:rPr lang="en-US" sz="1200" i="1" err="1">
                <a:solidFill>
                  <a:srgbClr val="E4E4E4"/>
                </a:solidFill>
                <a:latin typeface="Consolas" panose="020B0609020204030204" pitchFamily="49" charset="0"/>
              </a:rPr>
              <a:t>tile_id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tile_id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xcd_base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slot_base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+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local_tile_idx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</a:b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# GROUP_SIZE_M swizzle → (</a:t>
            </a:r>
            <a:r>
              <a:rPr lang="en-US" sz="1200" i="1" err="1">
                <a:solidFill>
                  <a:srgbClr val="E4E4E4"/>
                </a:solidFill>
                <a:latin typeface="Consolas" panose="020B0609020204030204" pitchFamily="49" charset="0"/>
              </a:rPr>
              <a:t>pid_m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, </a:t>
            </a:r>
            <a:r>
              <a:rPr lang="en-US" sz="1200" i="1" err="1">
                <a:solidFill>
                  <a:srgbClr val="E4E4E4"/>
                </a:solidFill>
                <a:latin typeface="Consolas" panose="020B0609020204030204" pitchFamily="49" charset="0"/>
              </a:rPr>
              <a:t>pid_n</a:t>
            </a:r>
            <a:r>
              <a:rPr lang="en-US" sz="1200" i="1">
                <a:solidFill>
                  <a:srgbClr val="E4E4E4"/>
                </a:solidFill>
                <a:latin typeface="Consolas" panose="020B0609020204030204" pitchFamily="49" charset="0"/>
              </a:rPr>
              <a:t>)</a:t>
            </a:r>
            <a:endParaRPr lang="en-US" sz="1200">
              <a:solidFill>
                <a:srgbClr val="E4E4E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num_pid_in_group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=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i="1">
                <a:solidFill>
                  <a:srgbClr val="D6D6DD"/>
                </a:solidFill>
                <a:latin typeface="Consolas" panose="020B0609020204030204" pitchFamily="49" charset="0"/>
              </a:rPr>
              <a:t>GROUP_SIZE_M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>
                <a:solidFill>
                  <a:srgbClr val="D6D6DD"/>
                </a:solidFill>
                <a:latin typeface="Consolas" panose="020B0609020204030204" pitchFamily="49" charset="0"/>
              </a:rPr>
              <a:t>*</a:t>
            </a:r>
            <a:r>
              <a:rPr lang="en-US" sz="1200">
                <a:solidFill>
                  <a:srgbClr val="E4E4E4"/>
                </a:solidFill>
                <a:latin typeface="Consolas" panose="020B0609020204030204" pitchFamily="49" charset="0"/>
              </a:rPr>
              <a:t> </a:t>
            </a:r>
            <a:r>
              <a:rPr lang="en-US" sz="1200" err="1">
                <a:solidFill>
                  <a:srgbClr val="87C3FF"/>
                </a:solidFill>
                <a:latin typeface="Consolas" panose="020B0609020204030204" pitchFamily="49" charset="0"/>
              </a:rPr>
              <a:t>num_pid_n</a:t>
            </a:r>
            <a:endParaRPr lang="en-US" sz="12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ED3F0B-C77C-53FE-33F7-E7730D2C863B}"/>
              </a:ext>
            </a:extLst>
          </p:cNvPr>
          <p:cNvSpPr/>
          <p:nvPr/>
        </p:nvSpPr>
        <p:spPr bwMode="auto">
          <a:xfrm>
            <a:off x="6096000" y="2866490"/>
            <a:ext cx="5226121" cy="430887"/>
          </a:xfrm>
          <a:prstGeom prst="rect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348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9CB7-D815-A7FA-542D-9BF4AF13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04A1-0F73-CB1A-60A3-9CB5440F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Stealing-based GEMM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597493-5D42-E177-04C9-E63DF905AB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6245713" cy="4831840"/>
          </a:xfrm>
        </p:spPr>
        <p:txBody>
          <a:bodyPr/>
          <a:lstStyle/>
          <a:p>
            <a:r>
              <a:rPr lang="en-US" b="1"/>
              <a:t>High-level description;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</a:t>
            </a:r>
            <a:r>
              <a:rPr lang="en-US" b="1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atomic_add</a:t>
            </a:r>
            <a:r>
              <a:rPr lang="en-US"/>
              <a:t> to increment a counter in global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Returned value of the atomic increment is your current tile id.</a:t>
            </a:r>
          </a:p>
          <a:p>
            <a:endParaRPr lang="en-US"/>
          </a:p>
          <a:p>
            <a:r>
              <a:rPr lang="en-US" b="1"/>
              <a:t>Features;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Global counter (1 counter for all CUs),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Counter-per-XCD (1 or N counters for each CU per XCD).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Backend: Origami’s Solution Selection + Triton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Launch Options;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Grid = Number of 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Grid = Number of Tiles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3D9404-7577-B350-9432-8BE98451CA1F}"/>
              </a:ext>
            </a:extLst>
          </p:cNvPr>
          <p:cNvGrpSpPr/>
          <p:nvPr/>
        </p:nvGrpSpPr>
        <p:grpSpPr>
          <a:xfrm>
            <a:off x="7772760" y="591790"/>
            <a:ext cx="3830977" cy="2655158"/>
            <a:chOff x="7772760" y="591790"/>
            <a:chExt cx="3830977" cy="26551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D20446-DAD3-02C8-C8EC-26B3F22399BD}"/>
                </a:ext>
              </a:extLst>
            </p:cNvPr>
            <p:cNvSpPr/>
            <p:nvPr/>
          </p:nvSpPr>
          <p:spPr bwMode="auto">
            <a:xfrm>
              <a:off x="8522772" y="1104943"/>
              <a:ext cx="1027417" cy="654978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XCD</a:t>
              </a:r>
              <a:r>
                <a:rPr lang="en-US" sz="1800" b="1" baseline="-25000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F96CF8-1F4A-1200-A8D7-C5E0931E4873}"/>
                </a:ext>
              </a:extLst>
            </p:cNvPr>
            <p:cNvSpPr/>
            <p:nvPr/>
          </p:nvSpPr>
          <p:spPr bwMode="auto">
            <a:xfrm>
              <a:off x="9825878" y="1104943"/>
              <a:ext cx="1027417" cy="654978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XCD</a:t>
              </a:r>
              <a:r>
                <a:rPr lang="en-US" sz="1800" b="1" baseline="-25000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F6DBCE-5A16-63C0-454D-57A1679E555F}"/>
                </a:ext>
              </a:extLst>
            </p:cNvPr>
            <p:cNvSpPr/>
            <p:nvPr/>
          </p:nvSpPr>
          <p:spPr bwMode="auto">
            <a:xfrm>
              <a:off x="9825878" y="2088694"/>
              <a:ext cx="1027417" cy="654978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XCD</a:t>
              </a:r>
              <a:r>
                <a:rPr lang="en-US" sz="1800" b="1" baseline="-25000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937B15-1F07-7BB5-4776-194327A227CB}"/>
                </a:ext>
              </a:extLst>
            </p:cNvPr>
            <p:cNvSpPr/>
            <p:nvPr/>
          </p:nvSpPr>
          <p:spPr bwMode="auto">
            <a:xfrm rot="16200000">
              <a:off x="7743435" y="1134264"/>
              <a:ext cx="654979" cy="5963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TILE COUNTER</a:t>
              </a:r>
              <a:endParaRPr lang="en-US" sz="900" b="1" baseline="-25000">
                <a:solidFill>
                  <a:schemeClr val="bg1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7AE4EE-6387-3FC9-311A-023899776163}"/>
                </a:ext>
              </a:extLst>
            </p:cNvPr>
            <p:cNvSpPr/>
            <p:nvPr/>
          </p:nvSpPr>
          <p:spPr bwMode="auto">
            <a:xfrm rot="5400000">
              <a:off x="10978083" y="1134264"/>
              <a:ext cx="654979" cy="5963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TILE COUNTER</a:t>
              </a:r>
              <a:endParaRPr lang="en-US" sz="900" b="1" baseline="-25000">
                <a:solidFill>
                  <a:schemeClr val="bg1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C00396-3A97-4570-8000-716BAB97CFA3}"/>
                </a:ext>
              </a:extLst>
            </p:cNvPr>
            <p:cNvSpPr/>
            <p:nvPr/>
          </p:nvSpPr>
          <p:spPr bwMode="auto">
            <a:xfrm rot="5400000">
              <a:off x="10978082" y="2118019"/>
              <a:ext cx="654979" cy="5963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>
                  <a:solidFill>
                    <a:schemeClr val="bg1"/>
                  </a:solidFill>
                  <a:latin typeface="Consolas" panose="020B0609020204030204" pitchFamily="49" charset="0"/>
                  <a:ea typeface="Segoe UI" pitchFamily="34" charset="0"/>
                  <a:cs typeface="Segoe UI" pitchFamily="34" charset="0"/>
                </a:rPr>
                <a:t>TILE COUNTER</a:t>
              </a:r>
              <a:endParaRPr lang="en-US" sz="900" b="1" baseline="-25000">
                <a:solidFill>
                  <a:schemeClr val="bg1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1970F81C-E504-A84B-E726-B15C7069EC82}"/>
                </a:ext>
              </a:extLst>
            </p:cNvPr>
            <p:cNvCxnSpPr>
              <a:stCxn id="8" idx="0"/>
              <a:endCxn id="16" idx="3"/>
            </p:cNvCxnSpPr>
            <p:nvPr/>
          </p:nvCxnSpPr>
          <p:spPr>
            <a:xfrm rot="16200000" flipV="1">
              <a:off x="8553701" y="622163"/>
              <a:ext cx="4" cy="965556"/>
            </a:xfrm>
            <a:prstGeom prst="bentConnector3">
              <a:avLst>
                <a:gd name="adj1" fmla="val 5715000000"/>
              </a:avLst>
            </a:prstGeom>
            <a:ln>
              <a:solidFill>
                <a:schemeClr val="tx1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B3EB98D-309D-B321-A0F5-2B4F655798ED}"/>
                </a:ext>
              </a:extLst>
            </p:cNvPr>
            <p:cNvCxnSpPr>
              <a:stCxn id="11" idx="2"/>
              <a:endCxn id="19" idx="3"/>
            </p:cNvCxnSpPr>
            <p:nvPr/>
          </p:nvCxnSpPr>
          <p:spPr>
            <a:xfrm rot="16200000" flipH="1">
              <a:off x="10822579" y="2260680"/>
              <a:ext cx="1" cy="965984"/>
            </a:xfrm>
            <a:prstGeom prst="bentConnector3">
              <a:avLst>
                <a:gd name="adj1" fmla="val 22860000000"/>
              </a:avLst>
            </a:prstGeom>
            <a:ln>
              <a:solidFill>
                <a:schemeClr val="tx1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2E3AB82D-0B92-29CB-EEC6-27B866149A21}"/>
                </a:ext>
              </a:extLst>
            </p:cNvPr>
            <p:cNvCxnSpPr>
              <a:stCxn id="9" idx="0"/>
              <a:endCxn id="18" idx="1"/>
            </p:cNvCxnSpPr>
            <p:nvPr/>
          </p:nvCxnSpPr>
          <p:spPr>
            <a:xfrm rot="5400000" flipH="1" flipV="1">
              <a:off x="10822577" y="621949"/>
              <a:ext cx="4" cy="965985"/>
            </a:xfrm>
            <a:prstGeom prst="bentConnector3">
              <a:avLst>
                <a:gd name="adj1" fmla="val 5715000000"/>
              </a:avLst>
            </a:prstGeom>
            <a:ln>
              <a:solidFill>
                <a:schemeClr val="tx1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FF1DCD-F820-88C9-56EB-EEEB02CF127F}"/>
                </a:ext>
              </a:extLst>
            </p:cNvPr>
            <p:cNvSpPr txBox="1"/>
            <p:nvPr/>
          </p:nvSpPr>
          <p:spPr>
            <a:xfrm>
              <a:off x="8369088" y="591790"/>
              <a:ext cx="27697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accent1"/>
                </a:buClr>
                <a:buSzPct val="60000"/>
              </a:pPr>
              <a:r>
                <a:rPr lang="en-US" sz="1400">
                  <a:latin typeface="Consolas" panose="020B0609020204030204" pitchFamily="49" charset="0"/>
                </a:rPr>
                <a:t>+1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6005A4-BA19-E625-97E8-3F14E84E7048}"/>
                </a:ext>
              </a:extLst>
            </p:cNvPr>
            <p:cNvSpPr txBox="1"/>
            <p:nvPr/>
          </p:nvSpPr>
          <p:spPr>
            <a:xfrm>
              <a:off x="10684092" y="591790"/>
              <a:ext cx="27697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accent1"/>
                </a:buClr>
                <a:buSzPct val="60000"/>
              </a:pPr>
              <a:r>
                <a:rPr lang="en-US" sz="1400">
                  <a:latin typeface="Consolas" panose="020B0609020204030204" pitchFamily="49" charset="0"/>
                </a:rPr>
                <a:t>+1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0847207-82DD-2A6A-4CE9-E2049932283E}"/>
                </a:ext>
              </a:extLst>
            </p:cNvPr>
            <p:cNvSpPr txBox="1"/>
            <p:nvPr/>
          </p:nvSpPr>
          <p:spPr>
            <a:xfrm>
              <a:off x="10714808" y="3031504"/>
              <a:ext cx="27697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accent1"/>
                </a:buClr>
                <a:buSzPct val="60000"/>
              </a:pPr>
              <a:r>
                <a:rPr lang="en-US" sz="1400">
                  <a:latin typeface="Consolas" panose="020B0609020204030204" pitchFamily="49" charset="0"/>
                </a:rPr>
                <a:t>+1</a:t>
              </a:r>
            </a:p>
          </p:txBody>
        </p: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20F53AEE-8BA8-6467-A2CF-7DF7C64A4230}"/>
                </a:ext>
              </a:extLst>
            </p:cNvPr>
            <p:cNvCxnSpPr>
              <a:stCxn id="16" idx="1"/>
              <a:endCxn id="8" idx="2"/>
            </p:cNvCxnSpPr>
            <p:nvPr/>
          </p:nvCxnSpPr>
          <p:spPr>
            <a:xfrm rot="16200000" flipH="1">
              <a:off x="8553702" y="1277141"/>
              <a:ext cx="3" cy="965556"/>
            </a:xfrm>
            <a:prstGeom prst="bentConnector3">
              <a:avLst>
                <a:gd name="adj1" fmla="val 7620100000"/>
              </a:avLst>
            </a:prstGeom>
            <a:ln>
              <a:solidFill>
                <a:schemeClr val="tx1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3EA37DE-90B4-4FF0-7A5D-C4A9407E372E}"/>
                </a:ext>
              </a:extLst>
            </p:cNvPr>
            <p:cNvSpPr txBox="1"/>
            <p:nvPr/>
          </p:nvSpPr>
          <p:spPr>
            <a:xfrm>
              <a:off x="8070924" y="2031836"/>
              <a:ext cx="96555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accent1"/>
                </a:buClr>
                <a:buSzPct val="60000"/>
              </a:pPr>
              <a:r>
                <a:rPr lang="en-US" sz="1000" err="1">
                  <a:latin typeface="Consolas" panose="020B0609020204030204" pitchFamily="49" charset="0"/>
                </a:rPr>
                <a:t>tile_id</a:t>
              </a:r>
              <a:endParaRPr lang="en-US" sz="1000">
                <a:latin typeface="Consolas" panose="020B0609020204030204" pitchFamily="49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FE3563C-9651-9940-5C1F-0F4AC43900F9}"/>
              </a:ext>
            </a:extLst>
          </p:cNvPr>
          <p:cNvSpPr txBox="1"/>
          <p:nvPr/>
        </p:nvSpPr>
        <p:spPr>
          <a:xfrm>
            <a:off x="6047570" y="6108317"/>
            <a:ext cx="4805724" cy="6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Work-Stealing-based Persistent Kernel: </a:t>
            </a:r>
            <a:r>
              <a:rPr lang="en-US">
                <a:hlinkClick r:id="rId2"/>
              </a:rPr>
              <a:t>https://github.com/ROCm/tritonBLAS/pull/64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211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A1FDBC-AFC7-6973-162C-A1401D75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3" y="988643"/>
            <a:ext cx="9911779" cy="56638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AC72B3-9442-ACA1-ABF4-D5238ADB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37034"/>
            <a:ext cx="11018520" cy="430887"/>
          </a:xfrm>
        </p:spPr>
        <p:txBody>
          <a:bodyPr/>
          <a:lstStyle/>
          <a:p>
            <a:r>
              <a:rPr lang="en-US"/>
              <a:t>Work Stealing-based GEMM on MI300X (8K^3)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E6426-C43B-C23B-0696-61C480F71E02}"/>
              </a:ext>
            </a:extLst>
          </p:cNvPr>
          <p:cNvSpPr/>
          <p:nvPr/>
        </p:nvSpPr>
        <p:spPr bwMode="auto">
          <a:xfrm>
            <a:off x="8106164" y="4561726"/>
            <a:ext cx="3647326" cy="11609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Tail Latency (wave quantization) problem still exists for GEMM running in isolation.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D3CF3B-8F4C-934D-7B82-6265E272736D}"/>
              </a:ext>
            </a:extLst>
          </p:cNvPr>
          <p:cNvSpPr/>
          <p:nvPr/>
        </p:nvSpPr>
        <p:spPr bwMode="auto">
          <a:xfrm>
            <a:off x="3379818" y="4330557"/>
            <a:ext cx="462337" cy="462337"/>
          </a:xfrm>
          <a:prstGeom prst="ellipse">
            <a:avLst/>
          </a:prstGeom>
          <a:noFill/>
          <a:ln w="28575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AA341-1DD6-E430-C899-CF0A919FCC3F}"/>
              </a:ext>
            </a:extLst>
          </p:cNvPr>
          <p:cNvCxnSpPr>
            <a:stCxn id="5" idx="1"/>
            <a:endCxn id="6" idx="6"/>
          </p:cNvCxnSpPr>
          <p:nvPr/>
        </p:nvCxnSpPr>
        <p:spPr>
          <a:xfrm flipH="1" flipV="1">
            <a:off x="3842155" y="4561726"/>
            <a:ext cx="4264009" cy="580490"/>
          </a:xfrm>
          <a:prstGeom prst="straightConnector1">
            <a:avLst/>
          </a:prstGeom>
          <a:ln w="28575">
            <a:headEnd type="none" w="lg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6CD48F-E63E-5F20-52AC-E7D03B7EFBAF}"/>
              </a:ext>
            </a:extLst>
          </p:cNvPr>
          <p:cNvSpPr/>
          <p:nvPr/>
        </p:nvSpPr>
        <p:spPr bwMode="auto">
          <a:xfrm>
            <a:off x="2434360" y="2332112"/>
            <a:ext cx="2178590" cy="13536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Some improvements in CU count 112, 120, 128, 144.</a:t>
            </a:r>
          </a:p>
        </p:txBody>
      </p:sp>
    </p:spTree>
    <p:extLst>
      <p:ext uri="{BB962C8B-B14F-4D97-AF65-F5344CB8AC3E}">
        <p14:creationId xmlns:p14="http://schemas.microsoft.com/office/powerpoint/2010/main" val="99043553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21FF-C2D6-674A-DB49-8D191A01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7D8F-72E0-CD60-5D98-A6695636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37034"/>
            <a:ext cx="11018520" cy="430887"/>
          </a:xfrm>
        </p:spPr>
        <p:txBody>
          <a:bodyPr/>
          <a:lstStyle/>
          <a:p>
            <a:r>
              <a:rPr lang="en-US"/>
              <a:t>Work Stealing-based GEMM on MI300X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486329-0BFA-34B7-0AE2-85A465372F74}"/>
              </a:ext>
            </a:extLst>
          </p:cNvPr>
          <p:cNvSpPr/>
          <p:nvPr/>
        </p:nvSpPr>
        <p:spPr bwMode="auto">
          <a:xfrm>
            <a:off x="3379818" y="4330557"/>
            <a:ext cx="462337" cy="462337"/>
          </a:xfrm>
          <a:prstGeom prst="ellipse">
            <a:avLst/>
          </a:prstGeom>
          <a:noFill/>
          <a:ln w="28575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60D752-E465-9B19-3074-C5F3C792463C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3842155" y="4561726"/>
            <a:ext cx="4264009" cy="580490"/>
          </a:xfrm>
          <a:prstGeom prst="straightConnector1">
            <a:avLst/>
          </a:prstGeom>
          <a:ln w="28575">
            <a:headEnd type="none" w="lg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2484E14-7FAC-3A05-B60F-ECFA575D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87" y="1099089"/>
            <a:ext cx="5654943" cy="3231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823EE-1C5E-8FFE-6047-6B03BC77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60" y="1099090"/>
            <a:ext cx="5654944" cy="323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3731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9ABD-3BA8-10F3-6A63-7752CFFF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F5D0-38C3-2810-BD8B-B47F5B4A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L2 and MALL Thrashing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0C9E0-9FB0-7704-1091-4C1F45258B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9640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EB88-B63D-0789-2D51-6370C9D8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5ADC-C684-C82D-6114-C3FE744D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HBM and Network Contention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18F2C-3524-6CFD-98FC-66D9D0211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0596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4409-45D2-5A84-02F0-0BE0A447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8796B48-4272-EC1F-F2D3-DA8881F0F1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4452471"/>
              </p:ext>
            </p:extLst>
          </p:nvPr>
        </p:nvGraphicFramePr>
        <p:xfrm>
          <a:off x="585217" y="1097280"/>
          <a:ext cx="11018520" cy="5168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57730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6B6C-7461-F319-8A65-B854252A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Origami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65634F-C903-2FD4-0225-91E8AE48C3CE}"/>
              </a:ext>
            </a:extLst>
          </p:cNvPr>
          <p:cNvSpPr/>
          <p:nvPr/>
        </p:nvSpPr>
        <p:spPr bwMode="auto">
          <a:xfrm>
            <a:off x="2290355" y="3492137"/>
            <a:ext cx="1306285" cy="844732"/>
          </a:xfrm>
          <a:prstGeom prst="roundRect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Origami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1E4FF4-9067-8D67-853D-9C3E338C74D5}"/>
              </a:ext>
            </a:extLst>
          </p:cNvPr>
          <p:cNvCxnSpPr>
            <a:endCxn id="4" idx="1"/>
          </p:cNvCxnSpPr>
          <p:nvPr/>
        </p:nvCxnSpPr>
        <p:spPr>
          <a:xfrm flipV="1">
            <a:off x="1332411" y="3914503"/>
            <a:ext cx="957944" cy="4354"/>
          </a:xfrm>
          <a:prstGeom prst="straightConnector1">
            <a:avLst/>
          </a:prstGeom>
          <a:ln w="19050">
            <a:solidFill>
              <a:srgbClr val="FFC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916C46-6065-A98B-3D30-1D65F86C9965}"/>
              </a:ext>
            </a:extLst>
          </p:cNvPr>
          <p:cNvSpPr txBox="1"/>
          <p:nvPr/>
        </p:nvSpPr>
        <p:spPr>
          <a:xfrm>
            <a:off x="679268" y="3492137"/>
            <a:ext cx="15260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M, N, K, N_CU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EFCB20-B2A8-D1F1-8B19-27FDC2DF94C5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3596640" y="3914503"/>
            <a:ext cx="2682242" cy="0"/>
          </a:xfrm>
          <a:prstGeom prst="straightConnector1">
            <a:avLst/>
          </a:prstGeom>
          <a:ln w="19050">
            <a:solidFill>
              <a:srgbClr val="FFC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FDC6AD-E837-DF6F-D8D0-222F7E2FE74A}"/>
              </a:ext>
            </a:extLst>
          </p:cNvPr>
          <p:cNvSpPr txBox="1"/>
          <p:nvPr/>
        </p:nvSpPr>
        <p:spPr>
          <a:xfrm>
            <a:off x="3758683" y="3630636"/>
            <a:ext cx="215443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MT_M, MT_N, MT_K</a:t>
            </a:r>
          </a:p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grid, WGM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EDE727-72F6-E43D-3AA1-82001902358C}"/>
              </a:ext>
            </a:extLst>
          </p:cNvPr>
          <p:cNvSpPr/>
          <p:nvPr/>
        </p:nvSpPr>
        <p:spPr bwMode="auto">
          <a:xfrm>
            <a:off x="6278882" y="3492137"/>
            <a:ext cx="1489165" cy="844732"/>
          </a:xfrm>
          <a:prstGeom prst="roundRect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Kernel Phase 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A40517-39B7-0729-5A66-576DBFA5429A}"/>
              </a:ext>
            </a:extLst>
          </p:cNvPr>
          <p:cNvSpPr/>
          <p:nvPr/>
        </p:nvSpPr>
        <p:spPr bwMode="auto">
          <a:xfrm>
            <a:off x="8299273" y="3492137"/>
            <a:ext cx="1489165" cy="844732"/>
          </a:xfrm>
          <a:prstGeom prst="roundRect">
            <a:avLst/>
          </a:prstGeom>
          <a:noFill/>
          <a:ln w="28575">
            <a:solidFill>
              <a:srgbClr val="FFC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Kernel Phase 1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449085EB-2C17-A5C9-FA3F-B15A9B39349F}"/>
              </a:ext>
            </a:extLst>
          </p:cNvPr>
          <p:cNvCxnSpPr>
            <a:stCxn id="14" idx="3"/>
            <a:endCxn id="4" idx="2"/>
          </p:cNvCxnSpPr>
          <p:nvPr/>
        </p:nvCxnSpPr>
        <p:spPr>
          <a:xfrm flipH="1">
            <a:off x="2943498" y="3914503"/>
            <a:ext cx="4824549" cy="422366"/>
          </a:xfrm>
          <a:prstGeom prst="curvedConnector4">
            <a:avLst>
              <a:gd name="adj1" fmla="val -4738"/>
              <a:gd name="adj2" fmla="val 154124"/>
            </a:avLst>
          </a:prstGeom>
          <a:ln w="19050">
            <a:solidFill>
              <a:srgbClr val="FFC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6BD9B60B-E2D7-B575-4861-DE5B59F335F3}"/>
              </a:ext>
            </a:extLst>
          </p:cNvPr>
          <p:cNvCxnSpPr>
            <a:cxnSpLocks/>
            <a:stCxn id="4" idx="0"/>
            <a:endCxn id="18" idx="1"/>
          </p:cNvCxnSpPr>
          <p:nvPr/>
        </p:nvCxnSpPr>
        <p:spPr>
          <a:xfrm rot="16200000" flipH="1">
            <a:off x="5410202" y="1025433"/>
            <a:ext cx="422366" cy="5355775"/>
          </a:xfrm>
          <a:prstGeom prst="curvedConnector4">
            <a:avLst>
              <a:gd name="adj1" fmla="val -82990"/>
              <a:gd name="adj2" fmla="val 94472"/>
            </a:avLst>
          </a:prstGeom>
          <a:ln w="19050">
            <a:solidFill>
              <a:srgbClr val="FFC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0884AA5-DA45-996B-9CFF-6DFB420AC6FD}"/>
              </a:ext>
            </a:extLst>
          </p:cNvPr>
          <p:cNvSpPr txBox="1"/>
          <p:nvPr/>
        </p:nvSpPr>
        <p:spPr>
          <a:xfrm>
            <a:off x="4007108" y="2330090"/>
            <a:ext cx="352660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New MT_M, MT_N, MT_K, WGM?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22619-254C-EF54-C3BC-A2C503CE614D}"/>
              </a:ext>
            </a:extLst>
          </p:cNvPr>
          <p:cNvSpPr txBox="1"/>
          <p:nvPr/>
        </p:nvSpPr>
        <p:spPr>
          <a:xfrm>
            <a:off x="5029200" y="4651497"/>
            <a:ext cx="1354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New N_CU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C7553A-822F-36F2-F6BF-AE38862FC69E}"/>
              </a:ext>
            </a:extLst>
          </p:cNvPr>
          <p:cNvSpPr txBox="1"/>
          <p:nvPr/>
        </p:nvSpPr>
        <p:spPr>
          <a:xfrm>
            <a:off x="5148446" y="2772613"/>
            <a:ext cx="11156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/>
              <a:t>New WGM</a:t>
            </a:r>
          </a:p>
        </p:txBody>
      </p:sp>
    </p:spTree>
    <p:extLst>
      <p:ext uri="{BB962C8B-B14F-4D97-AF65-F5344CB8AC3E}">
        <p14:creationId xmlns:p14="http://schemas.microsoft.com/office/powerpoint/2010/main" val="2179467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.pptx" id="{2D00CD2B-D8FB-4EB1-B01B-E0074AABC194}" vid="{8A3037FC-0AD5-448A-BF09-4A6A3F8767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D215A82C26C2489472D761D0470789" ma:contentTypeVersion="15" ma:contentTypeDescription="Create a new document." ma:contentTypeScope="" ma:versionID="f16466afb7250fd2f167a4b564ca8642">
  <xsd:schema xmlns:xsd="http://www.w3.org/2001/XMLSchema" xmlns:xs="http://www.w3.org/2001/XMLSchema" xmlns:p="http://schemas.microsoft.com/office/2006/metadata/properties" xmlns:ns2="5cb7c290-a5f4-4f37-8342-cf6e22ed27b9" xmlns:ns3="b209f601-e3c5-4ead-91c4-2f24d4189f9c" targetNamespace="http://schemas.microsoft.com/office/2006/metadata/properties" ma:root="true" ma:fieldsID="c3f0305f32a39ef84fc12d2efc70c9b2" ns2:_="" ns3:_="">
    <xsd:import namespace="5cb7c290-a5f4-4f37-8342-cf6e22ed27b9"/>
    <xsd:import namespace="b209f601-e3c5-4ead-91c4-2f24d4189f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7c290-a5f4-4f37-8342-cf6e22ed27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09f601-e3c5-4ead-91c4-2f24d4189f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c194eea-9c4a-4ef4-b187-0743e15e7ac1}" ma:internalName="TaxCatchAll" ma:showField="CatchAllData" ma:web="b209f601-e3c5-4ead-91c4-2f24d4189f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b7c290-a5f4-4f37-8342-cf6e22ed27b9">
      <Terms xmlns="http://schemas.microsoft.com/office/infopath/2007/PartnerControls"/>
    </lcf76f155ced4ddcb4097134ff3c332f>
    <TaxCatchAll xmlns="b209f601-e3c5-4ead-91c4-2f24d4189f9c" xsi:nil="true"/>
    <SharedWithUsers xmlns="b209f601-e3c5-4ead-91c4-2f24d4189f9c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A910DB-B94A-4CFA-BAAE-6C3459227339}">
  <ds:schemaRefs>
    <ds:schemaRef ds:uri="5cb7c290-a5f4-4f37-8342-cf6e22ed27b9"/>
    <ds:schemaRef ds:uri="b209f601-e3c5-4ead-91c4-2f24d4189f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60189F4-8669-46AF-AB30-87E8334958DF}">
  <ds:schemaRefs>
    <ds:schemaRef ds:uri="http://purl.org/dc/elements/1.1/"/>
    <ds:schemaRef ds:uri="b209f601-e3c5-4ead-91c4-2f24d4189f9c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5cb7c290-a5f4-4f37-8342-cf6e22ed27b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3CF073C-5472-45DB-AF24-E85037C84F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16x9 Presentation - Corporate Black Background</Template>
  <TotalTime>0</TotalTime>
  <Words>1521</Words>
  <Application>Microsoft Office PowerPoint</Application>
  <PresentationFormat>Widescreen</PresentationFormat>
  <Paragraphs>330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Consolas</vt:lpstr>
      <vt:lpstr>Segoe UI</vt:lpstr>
      <vt:lpstr>Trebuchet MS</vt:lpstr>
      <vt:lpstr>AMD Corporate Template_Dark</vt:lpstr>
      <vt:lpstr>Dynamic Work Assignment for  GEMMs on AMD GPUs</vt:lpstr>
      <vt:lpstr>Problem Statement</vt:lpstr>
      <vt:lpstr>Performance Issues w/ Concurrent GEMM &amp; Comm Kernels</vt:lpstr>
      <vt:lpstr>1. Tail Latency Effect (Wave Quantization)</vt:lpstr>
      <vt:lpstr>2. Work distribution across XCD and SEs</vt:lpstr>
      <vt:lpstr>Workgroup Dispatching</vt:lpstr>
      <vt:lpstr>Workgroup Dispatching w/ CU Masking</vt:lpstr>
      <vt:lpstr>Work Stealing-based GEMM</vt:lpstr>
      <vt:lpstr>Work Stealing-based GEMM</vt:lpstr>
      <vt:lpstr>Work Stealing-based GEMM on MI300X (8K^3)</vt:lpstr>
      <vt:lpstr>Work Stealing-based GEMM on MI300X</vt:lpstr>
      <vt:lpstr>3. L2 and MALL Thrashing</vt:lpstr>
      <vt:lpstr>4. HBM and Network Contention</vt:lpstr>
      <vt:lpstr>PowerPoint Presentation</vt:lpstr>
      <vt:lpstr>Origami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Osama, Muhammad</dc:creator>
  <cp:lastModifiedBy>Osama, Muhammad</cp:lastModifiedBy>
  <cp:revision>2</cp:revision>
  <dcterms:created xsi:type="dcterms:W3CDTF">2026-02-11T23:54:35Z</dcterms:created>
  <dcterms:modified xsi:type="dcterms:W3CDTF">2026-03-19T14:53:07Z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AMD Corporate Template_Dark:6</vt:lpwstr>
  </property>
  <property fmtid="{D5CDD505-2E9C-101B-9397-08002B2CF9AE}" pid="3" name="ClassificationContentMarkingHeaderText">
    <vt:lpwstr>[AMD Official Use Only - AMD Internal Distribution Only]</vt:lpwstr>
  </property>
  <property fmtid="{D5CDD505-2E9C-101B-9397-08002B2CF9AE}" pid="4" name="ContentTypeId">
    <vt:lpwstr>0x01010094D215A82C26C2489472D761D0470789</vt:lpwstr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{"FileActivityType":"9","FileActivityTimeStamp":"2026-02-17T22:29:32.237Z","FileActivityUsersOnPage":[{"DisplayName":"Osama, Muhammad","Id":"muhosama@amd.com"},{"DisplayName":"Li, Guihong","Id":"guihonli@amd.com"}],"FileActivityNavigationId":null}</vt:lpwstr>
  </property>
  <property fmtid="{D5CDD505-2E9C-101B-9397-08002B2CF9AE}" pid="9" name="TriggerFlowInfo">
    <vt:lpwstr/>
  </property>
</Properties>
</file>